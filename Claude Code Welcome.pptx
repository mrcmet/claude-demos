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17"/>
  </p:notesMasterIdLst>
  <p:handoutMasterIdLst>
    <p:handoutMasterId r:id="rId18"/>
  </p:handoutMasterIdLst>
  <p:sldIdLst>
    <p:sldId id="256" r:id="rId2"/>
    <p:sldId id="298" r:id="rId3"/>
    <p:sldId id="296" r:id="rId4"/>
    <p:sldId id="299" r:id="rId5"/>
    <p:sldId id="300" r:id="rId6"/>
    <p:sldId id="297" r:id="rId7"/>
    <p:sldId id="265" r:id="rId8"/>
    <p:sldId id="272" r:id="rId9"/>
    <p:sldId id="294" r:id="rId10"/>
    <p:sldId id="280" r:id="rId11"/>
    <p:sldId id="293" r:id="rId12"/>
    <p:sldId id="287" r:id="rId13"/>
    <p:sldId id="292" r:id="rId14"/>
    <p:sldId id="295" r:id="rId15"/>
    <p:sldId id="301" r:id="rId16"/>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0E3563-C2AF-044A-8D9B-13463D2643B3}">
          <p14:sldIdLst>
            <p14:sldId id="256"/>
            <p14:sldId id="298"/>
            <p14:sldId id="296"/>
            <p14:sldId id="299"/>
            <p14:sldId id="300"/>
            <p14:sldId id="297"/>
            <p14:sldId id="265"/>
            <p14:sldId id="272"/>
            <p14:sldId id="294"/>
            <p14:sldId id="280"/>
            <p14:sldId id="293"/>
            <p14:sldId id="287"/>
            <p14:sldId id="292"/>
            <p14:sldId id="295"/>
            <p14:sldId id="30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A461"/>
    <a:srgbClr val="B198DD"/>
    <a:srgbClr val="00B0F0"/>
    <a:srgbClr val="E46102"/>
    <a:srgbClr val="EEEEEE"/>
    <a:srgbClr val="D95E00"/>
    <a:srgbClr val="E56618"/>
    <a:srgbClr val="EF6F2A"/>
    <a:srgbClr val="6869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F1FA63-03C1-A44A-B281-423E1657A27B}" v="35" dt="2026-04-30T14:14:39.85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74" autoAdjust="0"/>
    <p:restoredTop sz="89443"/>
  </p:normalViewPr>
  <p:slideViewPr>
    <p:cSldViewPr snapToGrid="0" snapToObjects="1">
      <p:cViewPr>
        <p:scale>
          <a:sx n="160" d="100"/>
          <a:sy n="160" d="100"/>
        </p:scale>
        <p:origin x="-32" y="-120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06" d="100"/>
          <a:sy n="106" d="100"/>
        </p:scale>
        <p:origin x="4368"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333BD0-7962-B04A-8E72-AD5168F631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6B94C6-1659-0D42-8942-DAD6793A0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9C6931-D0F6-AB40-9D7F-95567148A5C2}" type="datetimeFigureOut">
              <a:rPr lang="en-US" smtClean="0"/>
              <a:t>4/29/26</a:t>
            </a:fld>
            <a:endParaRPr lang="en-US"/>
          </a:p>
        </p:txBody>
      </p:sp>
      <p:sp>
        <p:nvSpPr>
          <p:cNvPr id="4" name="Footer Placeholder 3">
            <a:extLst>
              <a:ext uri="{FF2B5EF4-FFF2-40B4-BE49-F238E27FC236}">
                <a16:creationId xmlns:a16="http://schemas.microsoft.com/office/drawing/2014/main" id="{8BE64BEA-E2E4-BF48-8CF7-45787CAA5A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939BBDE-4EF8-F14C-8AE0-73BF9B0C33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F64436-003E-284C-9347-5BCE37456516}" type="slidenum">
              <a:rPr lang="en-US" smtClean="0"/>
              <a:t>‹#›</a:t>
            </a:fld>
            <a:endParaRPr lang="en-US"/>
          </a:p>
        </p:txBody>
      </p:sp>
    </p:spTree>
    <p:extLst>
      <p:ext uri="{BB962C8B-B14F-4D97-AF65-F5344CB8AC3E}">
        <p14:creationId xmlns:p14="http://schemas.microsoft.com/office/powerpoint/2010/main" val="2373338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C18F2-6801-5147-A332-A6E1C7D69D18}" type="datetimeFigureOut">
              <a:rPr lang="en-US" smtClean="0"/>
              <a:t>4/29/26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CF60EF-C37D-4D44-90AD-6140AB570E45}" type="slidenum">
              <a:rPr lang="en-US" smtClean="0"/>
              <a:t>‹#›</a:t>
            </a:fld>
            <a:endParaRPr lang="en-US"/>
          </a:p>
        </p:txBody>
      </p:sp>
    </p:spTree>
    <p:extLst>
      <p:ext uri="{BB962C8B-B14F-4D97-AF65-F5344CB8AC3E}">
        <p14:creationId xmlns:p14="http://schemas.microsoft.com/office/powerpoint/2010/main" val="1818248317"/>
      </p:ext>
    </p:extLst>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C0FC41F-EF4F-C243-B13D-9CD7EBDA7868}"/>
              </a:ext>
            </a:extLst>
          </p:cNvPr>
          <p:cNvPicPr>
            <a:picLocks noChangeAspect="1"/>
          </p:cNvPicPr>
          <p:nvPr userDrawn="1"/>
        </p:nvPicPr>
        <p:blipFill rotWithShape="1">
          <a:blip r:embed="rId2"/>
          <a:srcRect l="6461" t="8861" r="1576" b="825"/>
          <a:stretch/>
        </p:blipFill>
        <p:spPr>
          <a:xfrm>
            <a:off x="-84883" y="-55711"/>
            <a:ext cx="10325100" cy="6913711"/>
          </a:xfrm>
          <a:prstGeom prst="rect">
            <a:avLst/>
          </a:prstGeom>
        </p:spPr>
      </p:pic>
      <p:sp>
        <p:nvSpPr>
          <p:cNvPr id="20" name="Text Placeholder 19">
            <a:extLst>
              <a:ext uri="{FF2B5EF4-FFF2-40B4-BE49-F238E27FC236}">
                <a16:creationId xmlns:a16="http://schemas.microsoft.com/office/drawing/2014/main" id="{FEFD9D4D-26CF-1B40-9449-C3AAAE20A4D6}"/>
              </a:ext>
            </a:extLst>
          </p:cNvPr>
          <p:cNvSpPr>
            <a:spLocks noGrp="1"/>
          </p:cNvSpPr>
          <p:nvPr>
            <p:ph type="body" sz="quarter" idx="10" hasCustomPrompt="1"/>
          </p:nvPr>
        </p:nvSpPr>
        <p:spPr>
          <a:xfrm>
            <a:off x="4888318" y="4369315"/>
            <a:ext cx="7008005" cy="400110"/>
          </a:xfrm>
          <a:prstGeom prst="rect">
            <a:avLst/>
          </a:prstGeom>
          <a:solidFill>
            <a:schemeClr val="bg1">
              <a:alpha val="75000"/>
            </a:schemeClr>
          </a:solidFill>
        </p:spPr>
        <p:txBody>
          <a:bodyPr wrap="square" lIns="274320" bIns="45720" anchor="t" anchorCtr="0">
            <a:spAutoFit/>
          </a:bodyPr>
          <a:lstStyle>
            <a:lvl1pPr marL="0" indent="0">
              <a:lnSpc>
                <a:spcPts val="2400"/>
              </a:lnSpc>
              <a:spcBef>
                <a:spcPts val="0"/>
              </a:spcBef>
              <a:buNone/>
              <a:defRPr sz="2200" b="1">
                <a:solidFill>
                  <a:schemeClr val="tx1"/>
                </a:solidFill>
              </a:defRPr>
            </a:lvl1pPr>
          </a:lstStyle>
          <a:p>
            <a:pPr lvl="0"/>
            <a:r>
              <a:rPr lang="en-US" dirty="0"/>
              <a:t>Click to add Subhead</a:t>
            </a:r>
          </a:p>
        </p:txBody>
      </p:sp>
      <p:sp>
        <p:nvSpPr>
          <p:cNvPr id="21" name="Text Placeholder 18">
            <a:extLst>
              <a:ext uri="{FF2B5EF4-FFF2-40B4-BE49-F238E27FC236}">
                <a16:creationId xmlns:a16="http://schemas.microsoft.com/office/drawing/2014/main" id="{E225A074-EFE6-D641-B858-30CD0522553E}"/>
              </a:ext>
            </a:extLst>
          </p:cNvPr>
          <p:cNvSpPr>
            <a:spLocks noGrp="1"/>
          </p:cNvSpPr>
          <p:nvPr>
            <p:ph type="body" sz="quarter" idx="16" hasCustomPrompt="1"/>
          </p:nvPr>
        </p:nvSpPr>
        <p:spPr>
          <a:xfrm>
            <a:off x="0" y="5532754"/>
            <a:ext cx="12192000" cy="1346199"/>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4" name="Picture 3">
            <a:extLst>
              <a:ext uri="{FF2B5EF4-FFF2-40B4-BE49-F238E27FC236}">
                <a16:creationId xmlns:a16="http://schemas.microsoft.com/office/drawing/2014/main" id="{66F38CCE-D8EA-A644-A10B-D4B2503A85F1}"/>
              </a:ext>
            </a:extLst>
          </p:cNvPr>
          <p:cNvPicPr>
            <a:picLocks noChangeAspect="1"/>
          </p:cNvPicPr>
          <p:nvPr userDrawn="1"/>
        </p:nvPicPr>
        <p:blipFill>
          <a:blip r:embed="rId3"/>
          <a:stretch>
            <a:fillRect/>
          </a:stretch>
        </p:blipFill>
        <p:spPr>
          <a:xfrm>
            <a:off x="11385722" y="145901"/>
            <a:ext cx="585080" cy="229944"/>
          </a:xfrm>
          <a:prstGeom prst="rect">
            <a:avLst/>
          </a:prstGeom>
        </p:spPr>
      </p:pic>
      <p:sp>
        <p:nvSpPr>
          <p:cNvPr id="26" name="Text Placeholder 14">
            <a:extLst>
              <a:ext uri="{FF2B5EF4-FFF2-40B4-BE49-F238E27FC236}">
                <a16:creationId xmlns:a16="http://schemas.microsoft.com/office/drawing/2014/main" id="{50388744-69EF-D44B-97D2-6D2F60890FF4}"/>
              </a:ext>
            </a:extLst>
          </p:cNvPr>
          <p:cNvSpPr>
            <a:spLocks noGrp="1"/>
          </p:cNvSpPr>
          <p:nvPr>
            <p:ph type="body" sz="quarter" idx="11" hasCustomPrompt="1"/>
          </p:nvPr>
        </p:nvSpPr>
        <p:spPr>
          <a:xfrm>
            <a:off x="4888318" y="4880935"/>
            <a:ext cx="7008005" cy="430887"/>
          </a:xfrm>
          <a:prstGeom prst="rect">
            <a:avLst/>
          </a:prstGeom>
          <a:solidFill>
            <a:schemeClr val="bg1">
              <a:alpha val="75000"/>
            </a:schemeClr>
          </a:solidFill>
        </p:spPr>
        <p:txBody>
          <a:bodyPr wrap="square" lIns="274320" bIns="45720" anchor="t" anchorCtr="0">
            <a:spAutoFit/>
          </a:bodyPr>
          <a:lstStyle>
            <a:lvl1pPr marL="0" indent="0">
              <a:buNone/>
              <a:defRPr sz="2200" b="0"/>
            </a:lvl1pPr>
          </a:lstStyle>
          <a:p>
            <a:pPr lvl="0"/>
            <a:r>
              <a:rPr lang="en-US" dirty="0"/>
              <a:t>Click to add Date</a:t>
            </a:r>
          </a:p>
        </p:txBody>
      </p:sp>
      <p:sp>
        <p:nvSpPr>
          <p:cNvPr id="2" name="Title 1">
            <a:extLst>
              <a:ext uri="{FF2B5EF4-FFF2-40B4-BE49-F238E27FC236}">
                <a16:creationId xmlns:a16="http://schemas.microsoft.com/office/drawing/2014/main" id="{E3DA0530-96BF-B941-B993-2942F25879AE}"/>
              </a:ext>
            </a:extLst>
          </p:cNvPr>
          <p:cNvSpPr>
            <a:spLocks noGrp="1"/>
          </p:cNvSpPr>
          <p:nvPr>
            <p:ph type="title" hasCustomPrompt="1"/>
          </p:nvPr>
        </p:nvSpPr>
        <p:spPr>
          <a:xfrm>
            <a:off x="4888317" y="1543755"/>
            <a:ext cx="7008005" cy="2686733"/>
          </a:xfrm>
          <a:prstGeom prst="rect">
            <a:avLst/>
          </a:prstGeom>
          <a:solidFill>
            <a:schemeClr val="accent1"/>
          </a:solidFill>
        </p:spPr>
        <p:txBody>
          <a:bodyPr/>
          <a:lstStyle>
            <a:lvl1pPr marL="182880" algn="l">
              <a:defRPr sz="5500" b="1" i="0" baseline="0">
                <a:solidFill>
                  <a:schemeClr val="bg1"/>
                </a:solidFill>
              </a:defRPr>
            </a:lvl1pPr>
          </a:lstStyle>
          <a:p>
            <a:r>
              <a:rPr lang="en-US" dirty="0"/>
              <a:t>Click to add Presentation </a:t>
            </a:r>
            <a:br>
              <a:rPr lang="en-US" dirty="0"/>
            </a:br>
            <a:r>
              <a:rPr lang="en-US" dirty="0"/>
              <a:t>Title</a:t>
            </a:r>
          </a:p>
        </p:txBody>
      </p:sp>
    </p:spTree>
    <p:extLst>
      <p:ext uri="{BB962C8B-B14F-4D97-AF65-F5344CB8AC3E}">
        <p14:creationId xmlns:p14="http://schemas.microsoft.com/office/powerpoint/2010/main" val="2443357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227BE32-0205-E84F-BDBB-EF6467178775}"/>
              </a:ext>
            </a:extLst>
          </p:cNvPr>
          <p:cNvSpPr>
            <a:spLocks noGrp="1"/>
          </p:cNvSpPr>
          <p:nvPr>
            <p:ph type="body" sz="quarter" idx="11" hasCustomPrompt="1"/>
          </p:nvPr>
        </p:nvSpPr>
        <p:spPr>
          <a:xfrm>
            <a:off x="4336704" y="1741012"/>
            <a:ext cx="7525333" cy="622904"/>
          </a:xfrm>
          <a:prstGeom prst="rect">
            <a:avLst/>
          </a:prstGeom>
        </p:spPr>
        <p:txBody>
          <a:bodyPr/>
          <a:lstStyle>
            <a:lvl1pPr marL="0" indent="0">
              <a:buNone/>
              <a:defRPr sz="3200" b="1"/>
            </a:lvl1pPr>
          </a:lstStyle>
          <a:p>
            <a:pPr lvl="0"/>
            <a:r>
              <a:rPr lang="en-US" dirty="0"/>
              <a:t>Click to add Subhead</a:t>
            </a:r>
          </a:p>
        </p:txBody>
      </p:sp>
      <p:sp>
        <p:nvSpPr>
          <p:cNvPr id="17" name="Text Placeholder 16">
            <a:extLst>
              <a:ext uri="{FF2B5EF4-FFF2-40B4-BE49-F238E27FC236}">
                <a16:creationId xmlns:a16="http://schemas.microsoft.com/office/drawing/2014/main" id="{7076F031-AF81-DC40-9A1C-C60C9367241C}"/>
              </a:ext>
            </a:extLst>
          </p:cNvPr>
          <p:cNvSpPr>
            <a:spLocks noGrp="1"/>
          </p:cNvSpPr>
          <p:nvPr>
            <p:ph type="body" sz="quarter" idx="12" hasCustomPrompt="1"/>
          </p:nvPr>
        </p:nvSpPr>
        <p:spPr>
          <a:xfrm>
            <a:off x="4328701" y="2560825"/>
            <a:ext cx="7533337" cy="2949193"/>
          </a:xfrm>
          <a:prstGeom prst="rect">
            <a:avLst/>
          </a:prstGeom>
        </p:spPr>
        <p:txBody>
          <a:bodyPr/>
          <a:lstStyle>
            <a:lvl1pPr marL="304792" indent="-296326">
              <a:buClr>
                <a:schemeClr val="accent1"/>
              </a:buClr>
              <a:buSzPct val="100000"/>
              <a:buFont typeface="Wingdings" pitchFamily="2" charset="2"/>
              <a:buChar char="§"/>
              <a:tabLst/>
              <a:defRPr sz="2667"/>
            </a:lvl1pPr>
            <a:lvl2pPr marL="535504" indent="-230712">
              <a:buClr>
                <a:srgbClr val="E46102"/>
              </a:buClr>
              <a:buSzPct val="100000"/>
              <a:buFont typeface="Arial" panose="020B0604020202020204" pitchFamily="34" charset="0"/>
              <a:buChar char="•"/>
              <a:tabLst/>
              <a:defRPr sz="2400"/>
            </a:lvl2pPr>
            <a:lvl3pPr marL="840296" indent="-230712">
              <a:buClr>
                <a:srgbClr val="E46102"/>
              </a:buClr>
              <a:buSzPct val="100000"/>
              <a:buFont typeface="Wingdings" pitchFamily="2" charset="2"/>
              <a:buChar char="§"/>
              <a:tabLst/>
              <a:defRPr sz="2133"/>
            </a:lvl3pPr>
            <a:lvl4pPr marL="1073124" indent="-232828">
              <a:buClr>
                <a:srgbClr val="D95E00"/>
              </a:buClr>
              <a:buFont typeface="System Font Regular"/>
              <a:buChar char="&gt;"/>
              <a:tabLst/>
              <a:defRPr sz="1867"/>
            </a:lvl4pPr>
            <a:lvl5pPr marL="1301717" indent="-228594">
              <a:buClr>
                <a:srgbClr val="D95E00"/>
              </a:buClr>
              <a:buFont typeface="Wingdings" pitchFamily="2" charset="2"/>
              <a:buChar char="§"/>
              <a:tabLst/>
              <a:defRPr sz="1600"/>
            </a:lvl5pPr>
            <a:lvl6pPr marL="1295368" indent="0">
              <a:buClr>
                <a:srgbClr val="D95E00"/>
              </a:buClr>
              <a:buFont typeface="System Font Regular"/>
              <a:buNone/>
              <a:tabLst/>
              <a:defRPr sz="1467"/>
            </a:lvl6pPr>
            <a:lvl7pPr marL="1526078" indent="0">
              <a:buClr>
                <a:srgbClr val="D95E00"/>
              </a:buClr>
              <a:buFont typeface="Wingdings" pitchFamily="2" charset="2"/>
              <a:buNone/>
              <a:tabLst/>
              <a:defRPr sz="1333"/>
            </a:lvl7pPr>
          </a:lstStyle>
          <a:p>
            <a:pPr lvl="0"/>
            <a:r>
              <a:rPr lang="en-US" dirty="0"/>
              <a:t>Click to add bullet</a:t>
            </a:r>
          </a:p>
          <a:p>
            <a:pPr lvl="1"/>
            <a:r>
              <a:rPr lang="en-US" dirty="0"/>
              <a:t>Click to add sub-bullet</a:t>
            </a:r>
          </a:p>
          <a:p>
            <a:pPr lvl="2"/>
            <a:r>
              <a:rPr lang="en-US" dirty="0"/>
              <a:t>Click to add sub-sub-bullet</a:t>
            </a:r>
          </a:p>
        </p:txBody>
      </p: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0"/>
            <a:ext cx="12192000" cy="1346200"/>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cxnSp>
        <p:nvCxnSpPr>
          <p:cNvPr id="10" name="Straight Connector 9">
            <a:extLst>
              <a:ext uri="{FF2B5EF4-FFF2-40B4-BE49-F238E27FC236}">
                <a16:creationId xmlns:a16="http://schemas.microsoft.com/office/drawing/2014/main" id="{F6856AB1-AAB5-DD41-A548-FB33E6E9490C}"/>
              </a:ext>
            </a:extLst>
          </p:cNvPr>
          <p:cNvCxnSpPr/>
          <p:nvPr userDrawn="1"/>
        </p:nvCxnSpPr>
        <p:spPr>
          <a:xfrm>
            <a:off x="272085" y="512494"/>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BF8741-1247-824C-927C-EC3E8FDB5013}"/>
              </a:ext>
            </a:extLst>
          </p:cNvPr>
          <p:cNvCxnSpPr/>
          <p:nvPr userDrawn="1"/>
        </p:nvCxnSpPr>
        <p:spPr>
          <a:xfrm>
            <a:off x="3376635" y="512494"/>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E63B3BD3-FFCD-2847-A680-FC79E81D1E2F}"/>
              </a:ext>
            </a:extLst>
          </p:cNvPr>
          <p:cNvSpPr>
            <a:spLocks noGrp="1"/>
          </p:cNvSpPr>
          <p:nvPr>
            <p:ph type="title" hasCustomPrompt="1"/>
          </p:nvPr>
        </p:nvSpPr>
        <p:spPr>
          <a:xfrm>
            <a:off x="272085" y="984154"/>
            <a:ext cx="3607765" cy="4525843"/>
          </a:xfrm>
          <a:prstGeom prst="rect">
            <a:avLst/>
          </a:prstGeom>
        </p:spPr>
        <p:txBody>
          <a:bodyPr/>
          <a:lstStyle>
            <a:lvl1pPr algn="l">
              <a:defRPr sz="4267" b="1" i="0" baseline="0">
                <a:solidFill>
                  <a:schemeClr val="accent1"/>
                </a:solidFill>
              </a:defRPr>
            </a:lvl1pPr>
          </a:lstStyle>
          <a:p>
            <a:r>
              <a:rPr lang="en-US" dirty="0"/>
              <a:t>Click to add Main Header</a:t>
            </a:r>
          </a:p>
        </p:txBody>
      </p:sp>
    </p:spTree>
    <p:extLst>
      <p:ext uri="{BB962C8B-B14F-4D97-AF65-F5344CB8AC3E}">
        <p14:creationId xmlns:p14="http://schemas.microsoft.com/office/powerpoint/2010/main" val="425813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AC8303E-CB79-A645-BEF9-D0CD24C49717}"/>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CA4F9A6-C8EF-1F4A-8155-1567273829D2}"/>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25">
            <a:extLst>
              <a:ext uri="{FF2B5EF4-FFF2-40B4-BE49-F238E27FC236}">
                <a16:creationId xmlns:a16="http://schemas.microsoft.com/office/drawing/2014/main" id="{D06909BC-83A5-ED42-AE34-D78DAEC3F249}"/>
              </a:ext>
            </a:extLst>
          </p:cNvPr>
          <p:cNvSpPr>
            <a:spLocks noGrp="1"/>
          </p:cNvSpPr>
          <p:nvPr>
            <p:ph type="body" sz="quarter" idx="15" hasCustomPrompt="1"/>
          </p:nvPr>
        </p:nvSpPr>
        <p:spPr>
          <a:xfrm>
            <a:off x="272085" y="1744225"/>
            <a:ext cx="11589952" cy="3767575"/>
          </a:xfrm>
          <a:prstGeom prst="rect">
            <a:avLst/>
          </a:prstGeom>
        </p:spPr>
        <p:txBody>
          <a:bodyPr/>
          <a:lstStyle>
            <a:lvl1pPr marL="304792" indent="-304792">
              <a:buClr>
                <a:schemeClr val="accent1"/>
              </a:buClr>
              <a:buSzPct val="100000"/>
              <a:buFont typeface="Wingdings" pitchFamily="2" charset="2"/>
              <a:buChar char="§"/>
              <a:tabLst/>
              <a:defRPr sz="3200" b="1"/>
            </a:lvl1pPr>
            <a:lvl2pPr marL="609585" indent="-304792">
              <a:buClr>
                <a:srgbClr val="E46102"/>
              </a:buClr>
              <a:buFont typeface="Arial" panose="020B0604020202020204" pitchFamily="34" charset="0"/>
              <a:buChar char="•"/>
              <a:tabLst/>
              <a:defRPr sz="2667"/>
            </a:lvl2pPr>
            <a:lvl3pPr marL="914377" indent="-304792">
              <a:buClr>
                <a:srgbClr val="E46102"/>
              </a:buClr>
              <a:buSzPct val="100000"/>
              <a:buFont typeface="Wingdings" pitchFamily="2" charset="2"/>
              <a:buChar char="§"/>
              <a:tabLst/>
              <a:defRPr sz="2400"/>
            </a:lvl3pPr>
            <a:lvl4pPr marL="1221287" indent="-306910">
              <a:buClr>
                <a:srgbClr val="D95E00"/>
              </a:buClr>
              <a:buFont typeface="System Font Regular"/>
              <a:buChar char="&gt;"/>
              <a:tabLst/>
              <a:defRPr sz="2133"/>
            </a:lvl4pPr>
            <a:lvl5pPr marL="1526079" indent="-304792">
              <a:buClr>
                <a:srgbClr val="D95E00"/>
              </a:buClr>
              <a:buFont typeface="Wingdings" pitchFamily="2" charset="2"/>
              <a:buChar char="§"/>
              <a:tabLst/>
              <a:defRPr sz="1867"/>
            </a:lvl5pPr>
            <a:lvl6pPr marL="1756789" indent="-230712">
              <a:buClr>
                <a:srgbClr val="D95E00"/>
              </a:buClr>
              <a:buFont typeface="System Font Regular"/>
              <a:buChar char="&gt;"/>
              <a:tabLst/>
              <a:defRPr sz="1600"/>
            </a:lvl6pPr>
            <a:lvl7pPr marL="1904952" indent="-148163">
              <a:buClr>
                <a:srgbClr val="D95E00"/>
              </a:buClr>
              <a:buFont typeface="Wingdings" pitchFamily="2" charset="2"/>
              <a:buChar char="§"/>
              <a:tabLst/>
              <a:defRPr sz="1333"/>
            </a:lvl7pPr>
            <a:lvl8pPr marL="2061582" indent="-156629">
              <a:buClr>
                <a:srgbClr val="D95E00"/>
              </a:buClr>
              <a:buFont typeface="System Font Regular"/>
              <a:buChar char="&gt;"/>
              <a:tabLst/>
              <a:defRPr sz="1200"/>
            </a:lvl8pPr>
          </a:lstStyle>
          <a:p>
            <a:pPr lvl="0"/>
            <a:r>
              <a:rPr lang="en-US" dirty="0"/>
              <a:t>Click to add bullet</a:t>
            </a:r>
          </a:p>
          <a:p>
            <a:pPr lvl="1"/>
            <a:r>
              <a:rPr lang="en-US" dirty="0"/>
              <a:t>Click to add sub-bullet</a:t>
            </a:r>
          </a:p>
          <a:p>
            <a:pPr lvl="2"/>
            <a:r>
              <a:rPr lang="en-US" dirty="0"/>
              <a:t>Click to add sub-sub bullet</a:t>
            </a:r>
          </a:p>
        </p:txBody>
      </p:sp>
      <p:sp>
        <p:nvSpPr>
          <p:cNvPr id="2" name="Title 1">
            <a:extLst>
              <a:ext uri="{FF2B5EF4-FFF2-40B4-BE49-F238E27FC236}">
                <a16:creationId xmlns:a16="http://schemas.microsoft.com/office/drawing/2014/main" id="{73FD7795-12BD-2D42-B73A-5BFF0F917929}"/>
              </a:ext>
            </a:extLst>
          </p:cNvPr>
          <p:cNvSpPr>
            <a:spLocks noGrp="1"/>
          </p:cNvSpPr>
          <p:nvPr>
            <p:ph type="title" hasCustomPrompt="1"/>
          </p:nvPr>
        </p:nvSpPr>
        <p:spPr>
          <a:xfrm>
            <a:off x="272085" y="958452"/>
            <a:ext cx="10355658" cy="696384"/>
          </a:xfrm>
          <a:prstGeom prst="rect">
            <a:avLst/>
          </a:prstGeom>
        </p:spPr>
        <p:txBody>
          <a:bodyPr/>
          <a:lstStyle>
            <a:lvl1pPr algn="l">
              <a:defRPr sz="3733" b="1" i="0" baseline="0">
                <a:solidFill>
                  <a:schemeClr val="accent1"/>
                </a:solidFill>
              </a:defRPr>
            </a:lvl1pPr>
          </a:lstStyle>
          <a:p>
            <a:r>
              <a:rPr lang="en-US" dirty="0"/>
              <a:t>Click to add Header</a:t>
            </a:r>
          </a:p>
        </p:txBody>
      </p:sp>
    </p:spTree>
    <p:extLst>
      <p:ext uri="{BB962C8B-B14F-4D97-AF65-F5344CB8AC3E}">
        <p14:creationId xmlns:p14="http://schemas.microsoft.com/office/powerpoint/2010/main" val="1508505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Page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ACF15DD-277E-394F-AFCE-926578BEF7F1}"/>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2D8B4FE-5E61-2942-9F67-A4F6AD7FECA1}"/>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8">
            <a:extLst>
              <a:ext uri="{FF2B5EF4-FFF2-40B4-BE49-F238E27FC236}">
                <a16:creationId xmlns:a16="http://schemas.microsoft.com/office/drawing/2014/main" id="{62AB3FC8-2388-7847-86DB-E5B5333EACF3}"/>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7" name="Content Placeholder 18">
            <a:extLst>
              <a:ext uri="{FF2B5EF4-FFF2-40B4-BE49-F238E27FC236}">
                <a16:creationId xmlns:a16="http://schemas.microsoft.com/office/drawing/2014/main" id="{E61379B3-CA22-7E42-8FE3-E2D09D721962}"/>
              </a:ext>
            </a:extLst>
          </p:cNvPr>
          <p:cNvSpPr>
            <a:spLocks noGrp="1"/>
          </p:cNvSpPr>
          <p:nvPr>
            <p:ph sz="quarter" idx="16" hasCustomPrompt="1"/>
          </p:nvPr>
        </p:nvSpPr>
        <p:spPr>
          <a:xfrm>
            <a:off x="272085" y="863428"/>
            <a:ext cx="11589952"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2433538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44EEE75-1C0C-DF43-8A1A-F55F70A0076A}"/>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933C26C-CF75-E04A-98EB-7AEC198CFEE8}"/>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 Placeholder 18">
            <a:extLst>
              <a:ext uri="{FF2B5EF4-FFF2-40B4-BE49-F238E27FC236}">
                <a16:creationId xmlns:a16="http://schemas.microsoft.com/office/drawing/2014/main" id="{AD0B3782-2422-A544-AEA8-0DA96AAE5510}"/>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4" name="Content Placeholder 18">
            <a:extLst>
              <a:ext uri="{FF2B5EF4-FFF2-40B4-BE49-F238E27FC236}">
                <a16:creationId xmlns:a16="http://schemas.microsoft.com/office/drawing/2014/main" id="{D44BC06C-7E1C-4845-973D-DCD63FB136FA}"/>
              </a:ext>
            </a:extLst>
          </p:cNvPr>
          <p:cNvSpPr>
            <a:spLocks noGrp="1"/>
          </p:cNvSpPr>
          <p:nvPr>
            <p:ph sz="quarter" idx="15" hasCustomPrompt="1"/>
          </p:nvPr>
        </p:nvSpPr>
        <p:spPr>
          <a:xfrm>
            <a:off x="6256867" y="863692"/>
            <a:ext cx="5604933" cy="4639642"/>
          </a:xfrm>
          <a:prstGeom prst="rect">
            <a:avLst/>
          </a:prstGeom>
        </p:spPr>
        <p:txBody>
          <a:bodyPr anchor="t"/>
          <a:lstStyle>
            <a:lvl1pPr marL="0" indent="0" algn="ctr">
              <a:buNone/>
              <a:defRPr i="1"/>
            </a:lvl1pPr>
          </a:lstStyle>
          <a:p>
            <a:pPr lvl="0"/>
            <a:r>
              <a:rPr lang="en-US" dirty="0"/>
              <a:t>Place image/chart here</a:t>
            </a:r>
          </a:p>
        </p:txBody>
      </p:sp>
      <p:sp>
        <p:nvSpPr>
          <p:cNvPr id="15" name="Content Placeholder 18">
            <a:extLst>
              <a:ext uri="{FF2B5EF4-FFF2-40B4-BE49-F238E27FC236}">
                <a16:creationId xmlns:a16="http://schemas.microsoft.com/office/drawing/2014/main" id="{AA93BCA3-E265-CD4C-9883-62DC1D15F3D7}"/>
              </a:ext>
            </a:extLst>
          </p:cNvPr>
          <p:cNvSpPr>
            <a:spLocks noGrp="1"/>
          </p:cNvSpPr>
          <p:nvPr>
            <p:ph sz="quarter" idx="16" hasCustomPrompt="1"/>
          </p:nvPr>
        </p:nvSpPr>
        <p:spPr>
          <a:xfrm>
            <a:off x="272085" y="863428"/>
            <a:ext cx="5612248"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2652767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06E70DBF-129D-BB48-BBFF-08F62952F603}"/>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FE58E4D-9595-E14C-8259-3EDBF9F54A84}"/>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8">
            <a:extLst>
              <a:ext uri="{FF2B5EF4-FFF2-40B4-BE49-F238E27FC236}">
                <a16:creationId xmlns:a16="http://schemas.microsoft.com/office/drawing/2014/main" id="{9CF2F8B1-9E2E-5040-B217-FCC725F9667F}"/>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7" name="Text Placeholder 16">
            <a:extLst>
              <a:ext uri="{FF2B5EF4-FFF2-40B4-BE49-F238E27FC236}">
                <a16:creationId xmlns:a16="http://schemas.microsoft.com/office/drawing/2014/main" id="{8BFBAF58-1BBE-824B-9BD9-DF65670E97E9}"/>
              </a:ext>
            </a:extLst>
          </p:cNvPr>
          <p:cNvSpPr>
            <a:spLocks noGrp="1"/>
          </p:cNvSpPr>
          <p:nvPr>
            <p:ph type="body" sz="quarter" idx="14" hasCustomPrompt="1"/>
          </p:nvPr>
        </p:nvSpPr>
        <p:spPr>
          <a:xfrm>
            <a:off x="264584" y="1873340"/>
            <a:ext cx="3471333" cy="3638461"/>
          </a:xfrm>
          <a:prstGeom prst="rect">
            <a:avLst/>
          </a:prstGeom>
        </p:spPr>
        <p:txBody>
          <a:bodyPr/>
          <a:lstStyle>
            <a:lvl1pPr marL="0" indent="0">
              <a:buNone/>
              <a:defRPr sz="2667"/>
            </a:lvl1pPr>
          </a:lstStyle>
          <a:p>
            <a:pPr lvl="0"/>
            <a:r>
              <a:rPr lang="en-US" dirty="0"/>
              <a:t>Click to add caption</a:t>
            </a:r>
          </a:p>
        </p:txBody>
      </p:sp>
      <p:sp>
        <p:nvSpPr>
          <p:cNvPr id="19" name="Content Placeholder 18">
            <a:extLst>
              <a:ext uri="{FF2B5EF4-FFF2-40B4-BE49-F238E27FC236}">
                <a16:creationId xmlns:a16="http://schemas.microsoft.com/office/drawing/2014/main" id="{80FC676F-AD0F-3045-85E2-F41B9DF0A6F3}"/>
              </a:ext>
            </a:extLst>
          </p:cNvPr>
          <p:cNvSpPr>
            <a:spLocks noGrp="1"/>
          </p:cNvSpPr>
          <p:nvPr>
            <p:ph sz="quarter" idx="15" hasCustomPrompt="1"/>
          </p:nvPr>
        </p:nvSpPr>
        <p:spPr>
          <a:xfrm>
            <a:off x="4000501" y="863692"/>
            <a:ext cx="7861300" cy="4639642"/>
          </a:xfrm>
          <a:prstGeom prst="rect">
            <a:avLst/>
          </a:prstGeom>
        </p:spPr>
        <p:txBody>
          <a:bodyPr anchor="t"/>
          <a:lstStyle>
            <a:lvl1pPr marL="0" indent="0" algn="ctr">
              <a:buNone/>
              <a:defRPr i="1"/>
            </a:lvl1pPr>
          </a:lstStyle>
          <a:p>
            <a:pPr lvl="0"/>
            <a:r>
              <a:rPr lang="en-US" dirty="0"/>
              <a:t>Place image/chart here</a:t>
            </a:r>
          </a:p>
        </p:txBody>
      </p:sp>
      <p:sp>
        <p:nvSpPr>
          <p:cNvPr id="2" name="Title 1">
            <a:extLst>
              <a:ext uri="{FF2B5EF4-FFF2-40B4-BE49-F238E27FC236}">
                <a16:creationId xmlns:a16="http://schemas.microsoft.com/office/drawing/2014/main" id="{58D9BD4C-94EB-2343-8337-134562E2917A}"/>
              </a:ext>
            </a:extLst>
          </p:cNvPr>
          <p:cNvSpPr>
            <a:spLocks noGrp="1"/>
          </p:cNvSpPr>
          <p:nvPr>
            <p:ph type="title" hasCustomPrompt="1"/>
          </p:nvPr>
        </p:nvSpPr>
        <p:spPr>
          <a:xfrm>
            <a:off x="264584" y="862676"/>
            <a:ext cx="3471333" cy="803182"/>
          </a:xfrm>
          <a:prstGeom prst="rect">
            <a:avLst/>
          </a:prstGeom>
        </p:spPr>
        <p:txBody>
          <a:bodyPr/>
          <a:lstStyle>
            <a:lvl1pPr algn="l">
              <a:defRPr sz="4267" b="1" i="0" baseline="0">
                <a:solidFill>
                  <a:schemeClr val="accent1"/>
                </a:solidFill>
              </a:defRPr>
            </a:lvl1pPr>
          </a:lstStyle>
          <a:p>
            <a:r>
              <a:rPr lang="en-US" dirty="0"/>
              <a:t>Main Header</a:t>
            </a:r>
          </a:p>
        </p:txBody>
      </p:sp>
    </p:spTree>
    <p:extLst>
      <p:ext uri="{BB962C8B-B14F-4D97-AF65-F5344CB8AC3E}">
        <p14:creationId xmlns:p14="http://schemas.microsoft.com/office/powerpoint/2010/main" val="4245474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81FDB69-C179-3341-AEF3-D2B3896FB825}"/>
              </a:ext>
            </a:extLst>
          </p:cNvPr>
          <p:cNvCxnSpPr/>
          <p:nvPr userDrawn="1"/>
        </p:nvCxnSpPr>
        <p:spPr>
          <a:xfrm>
            <a:off x="272085" y="513091"/>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8ECA973-8475-EF41-8C88-BE7633966CF5}"/>
              </a:ext>
            </a:extLst>
          </p:cNvPr>
          <p:cNvCxnSpPr/>
          <p:nvPr userDrawn="1"/>
        </p:nvCxnSpPr>
        <p:spPr>
          <a:xfrm>
            <a:off x="3376635" y="513091"/>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 Placeholder 18">
            <a:extLst>
              <a:ext uri="{FF2B5EF4-FFF2-40B4-BE49-F238E27FC236}">
                <a16:creationId xmlns:a16="http://schemas.microsoft.com/office/drawing/2014/main" id="{7DF7C01A-B350-7B45-A49E-C3717CC86D08}"/>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9" name="Picture 8">
            <a:extLst>
              <a:ext uri="{FF2B5EF4-FFF2-40B4-BE49-F238E27FC236}">
                <a16:creationId xmlns:a16="http://schemas.microsoft.com/office/drawing/2014/main" id="{1282F3CD-3D17-914E-88EA-A50C55E2370A}"/>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C9CC0E3C-2123-DD4D-931C-F62C3737E69F}"/>
              </a:ext>
            </a:extLst>
          </p:cNvPr>
          <p:cNvSpPr>
            <a:spLocks noGrp="1"/>
          </p:cNvSpPr>
          <p:nvPr>
            <p:ph type="title" hasCustomPrompt="1"/>
          </p:nvPr>
        </p:nvSpPr>
        <p:spPr>
          <a:xfrm>
            <a:off x="272085" y="3987798"/>
            <a:ext cx="11589952" cy="1524000"/>
          </a:xfrm>
          <a:prstGeom prst="rect">
            <a:avLst/>
          </a:prstGeom>
        </p:spPr>
        <p:txBody>
          <a:bodyPr/>
          <a:lstStyle>
            <a:lvl1pPr algn="l">
              <a:defRPr sz="5330" b="1" i="0" baseline="0"/>
            </a:lvl1pPr>
          </a:lstStyle>
          <a:p>
            <a:r>
              <a:rPr lang="en-US" dirty="0"/>
              <a:t>Click to add Transition Title</a:t>
            </a:r>
          </a:p>
        </p:txBody>
      </p:sp>
    </p:spTree>
    <p:extLst>
      <p:ext uri="{BB962C8B-B14F-4D97-AF65-F5344CB8AC3E}">
        <p14:creationId xmlns:p14="http://schemas.microsoft.com/office/powerpoint/2010/main" val="311608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or End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17F9755-C0DA-B244-B730-B308E60924F8}"/>
              </a:ext>
            </a:extLst>
          </p:cNvPr>
          <p:cNvSpPr/>
          <p:nvPr userDrawn="1"/>
        </p:nvSpPr>
        <p:spPr>
          <a:xfrm>
            <a:off x="0" y="0"/>
            <a:ext cx="12188952" cy="6858000"/>
          </a:xfrm>
          <a:prstGeom prst="rect">
            <a:avLst/>
          </a:prstGeom>
          <a:solidFill>
            <a:srgbClr val="E46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solidFill>
                <a:schemeClr val="accent1"/>
              </a:solidFill>
            </a:endParaRPr>
          </a:p>
        </p:txBody>
      </p:sp>
      <p:cxnSp>
        <p:nvCxnSpPr>
          <p:cNvPr id="12" name="Straight Connector 11">
            <a:extLst>
              <a:ext uri="{FF2B5EF4-FFF2-40B4-BE49-F238E27FC236}">
                <a16:creationId xmlns:a16="http://schemas.microsoft.com/office/drawing/2014/main" id="{257FF2CB-58B7-5049-BADD-41D07A0154D8}"/>
              </a:ext>
            </a:extLst>
          </p:cNvPr>
          <p:cNvCxnSpPr/>
          <p:nvPr userDrawn="1"/>
        </p:nvCxnSpPr>
        <p:spPr>
          <a:xfrm>
            <a:off x="272085" y="513091"/>
            <a:ext cx="2674747"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B5B524D-D7AF-4B4A-B485-6A922EDBF1D0}"/>
              </a:ext>
            </a:extLst>
          </p:cNvPr>
          <p:cNvCxnSpPr/>
          <p:nvPr userDrawn="1"/>
        </p:nvCxnSpPr>
        <p:spPr>
          <a:xfrm>
            <a:off x="3376635" y="513091"/>
            <a:ext cx="8485403" cy="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 Placeholder 18">
            <a:extLst>
              <a:ext uri="{FF2B5EF4-FFF2-40B4-BE49-F238E27FC236}">
                <a16:creationId xmlns:a16="http://schemas.microsoft.com/office/drawing/2014/main" id="{079EB260-1A7B-174A-AA51-12AAD061D7C6}"/>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8" name="Picture 7">
            <a:extLst>
              <a:ext uri="{FF2B5EF4-FFF2-40B4-BE49-F238E27FC236}">
                <a16:creationId xmlns:a16="http://schemas.microsoft.com/office/drawing/2014/main" id="{519EDA26-0ACE-9A47-99A2-05436A5D85B4}"/>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21A29C41-3442-1A46-B586-6B645C5B9FCD}"/>
              </a:ext>
            </a:extLst>
          </p:cNvPr>
          <p:cNvSpPr>
            <a:spLocks noGrp="1"/>
          </p:cNvSpPr>
          <p:nvPr>
            <p:ph type="title" hasCustomPrompt="1"/>
          </p:nvPr>
        </p:nvSpPr>
        <p:spPr>
          <a:xfrm>
            <a:off x="272085" y="4256023"/>
            <a:ext cx="11589952" cy="1253062"/>
          </a:xfrm>
          <a:prstGeom prst="rect">
            <a:avLst/>
          </a:prstGeom>
        </p:spPr>
        <p:txBody>
          <a:bodyPr/>
          <a:lstStyle>
            <a:lvl1pPr algn="l">
              <a:defRPr sz="7200" b="1" i="0" baseline="0">
                <a:solidFill>
                  <a:schemeClr val="bg1"/>
                </a:solidFill>
              </a:defRPr>
            </a:lvl1pPr>
          </a:lstStyle>
          <a:p>
            <a:r>
              <a:rPr lang="en-US" dirty="0"/>
              <a:t>Click to add Section Title</a:t>
            </a:r>
          </a:p>
        </p:txBody>
      </p:sp>
    </p:spTree>
    <p:extLst>
      <p:ext uri="{BB962C8B-B14F-4D97-AF65-F5344CB8AC3E}">
        <p14:creationId xmlns:p14="http://schemas.microsoft.com/office/powerpoint/2010/main" val="23557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Box 12"/>
          <p:cNvSpPr txBox="1"/>
          <p:nvPr/>
        </p:nvSpPr>
        <p:spPr>
          <a:xfrm>
            <a:off x="11476827" y="257543"/>
            <a:ext cx="1241077" cy="240066"/>
          </a:xfrm>
          <a:prstGeom prst="rect">
            <a:avLst/>
          </a:prstGeom>
          <a:noFill/>
        </p:spPr>
        <p:txBody>
          <a:bodyPr vert="horz" wrap="square" rtlCol="0">
            <a:spAutoFit/>
          </a:bodyPr>
          <a:lstStyle/>
          <a:p>
            <a:pPr algn="l">
              <a:lnSpc>
                <a:spcPct val="80000"/>
              </a:lnSpc>
            </a:pPr>
            <a:r>
              <a:rPr lang="en-US" sz="1200" dirty="0">
                <a:latin typeface="Georgia"/>
                <a:cs typeface="Georgia"/>
              </a:rPr>
              <a:t>|  </a:t>
            </a:r>
            <a:fld id="{606D2650-017B-BC48-A893-0334FE68CCF7}" type="slidenum">
              <a:rPr lang="en-US" sz="1133" smtClean="0">
                <a:latin typeface="Arial" panose="020B0604020202020204" pitchFamily="34" charset="0"/>
                <a:cs typeface="Arial" panose="020B0604020202020204" pitchFamily="34" charset="0"/>
              </a:rPr>
              <a:pPr algn="l">
                <a:lnSpc>
                  <a:spcPct val="80000"/>
                </a:lnSpc>
              </a:pPr>
              <a:t>‹#›</a:t>
            </a:fld>
            <a:endParaRPr lang="en-US" sz="1133" dirty="0">
              <a:solidFill>
                <a:srgbClr val="0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ED145F7-0212-424C-84CF-3AAA37DF7A2C}"/>
              </a:ext>
            </a:extLst>
          </p:cNvPr>
          <p:cNvPicPr>
            <a:picLocks noChangeAspect="1"/>
          </p:cNvPicPr>
          <p:nvPr userDrawn="1"/>
        </p:nvPicPr>
        <p:blipFill>
          <a:blip r:embed="rId10"/>
          <a:stretch>
            <a:fillRect/>
          </a:stretch>
        </p:blipFill>
        <p:spPr>
          <a:xfrm>
            <a:off x="358433" y="198708"/>
            <a:ext cx="556192" cy="218591"/>
          </a:xfrm>
          <a:prstGeom prst="rect">
            <a:avLst/>
          </a:prstGeom>
        </p:spPr>
      </p:pic>
      <p:pic>
        <p:nvPicPr>
          <p:cNvPr id="2" name="Graphic 1">
            <a:extLst>
              <a:ext uri="{FF2B5EF4-FFF2-40B4-BE49-F238E27FC236}">
                <a16:creationId xmlns:a16="http://schemas.microsoft.com/office/drawing/2014/main" id="{D4198D3A-06A3-93DB-A131-B7E32E2F5A10}"/>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156879" y="257543"/>
            <a:ext cx="2369714" cy="210642"/>
          </a:xfrm>
          <a:prstGeom prst="rect">
            <a:avLst/>
          </a:prstGeom>
        </p:spPr>
      </p:pic>
    </p:spTree>
    <p:extLst>
      <p:ext uri="{BB962C8B-B14F-4D97-AF65-F5344CB8AC3E}">
        <p14:creationId xmlns:p14="http://schemas.microsoft.com/office/powerpoint/2010/main" val="1699808712"/>
      </p:ext>
    </p:extLst>
  </p:cSld>
  <p:clrMap bg1="lt1" tx1="dk1" bg2="lt2" tx2="dk2" accent1="accent1" accent2="accent2" accent3="accent3" accent4="accent4" accent5="accent5" accent6="accent6" hlink="hlink" folHlink="folHlink"/>
  <p:sldLayoutIdLst>
    <p:sldLayoutId id="2147483665" r:id="rId1"/>
    <p:sldLayoutId id="2147483680" r:id="rId2"/>
    <p:sldLayoutId id="2147483681" r:id="rId3"/>
    <p:sldLayoutId id="2147483682" r:id="rId4"/>
    <p:sldLayoutId id="2147483683" r:id="rId5"/>
    <p:sldLayoutId id="2147483684" r:id="rId6"/>
    <p:sldLayoutId id="2147483685" r:id="rId7"/>
    <p:sldLayoutId id="2147483686" r:id="rId8"/>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www.rit.edu/policies/d050"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E09C07-7427-DB40-B063-9F2F085DC701}"/>
              </a:ext>
            </a:extLst>
          </p:cNvPr>
          <p:cNvSpPr>
            <a:spLocks noGrp="1"/>
          </p:cNvSpPr>
          <p:nvPr>
            <p:ph type="body" sz="quarter" idx="10"/>
          </p:nvPr>
        </p:nvSpPr>
        <p:spPr/>
        <p:txBody>
          <a:bodyPr/>
          <a:lstStyle/>
          <a:p>
            <a:r>
              <a:rPr lang="en-US" dirty="0"/>
              <a:t>M. Caldwell</a:t>
            </a:r>
          </a:p>
        </p:txBody>
      </p:sp>
      <p:sp>
        <p:nvSpPr>
          <p:cNvPr id="5" name="Text Placeholder 4">
            <a:extLst>
              <a:ext uri="{FF2B5EF4-FFF2-40B4-BE49-F238E27FC236}">
                <a16:creationId xmlns:a16="http://schemas.microsoft.com/office/drawing/2014/main" id="{BED70A38-21C1-3E4B-8337-7E8D995CDAF5}"/>
              </a:ext>
            </a:extLst>
          </p:cNvPr>
          <p:cNvSpPr>
            <a:spLocks noGrp="1"/>
          </p:cNvSpPr>
          <p:nvPr>
            <p:ph type="body" sz="quarter" idx="16"/>
          </p:nvPr>
        </p:nvSpPr>
        <p:spPr/>
        <p:txBody>
          <a:bodyPr/>
          <a:lstStyle/>
          <a:p>
            <a:endParaRPr lang="en-US"/>
          </a:p>
        </p:txBody>
      </p:sp>
      <p:sp>
        <p:nvSpPr>
          <p:cNvPr id="4" name="Text Placeholder 3">
            <a:extLst>
              <a:ext uri="{FF2B5EF4-FFF2-40B4-BE49-F238E27FC236}">
                <a16:creationId xmlns:a16="http://schemas.microsoft.com/office/drawing/2014/main" id="{B73FB4AE-BB82-6641-8347-005967D818AD}"/>
              </a:ext>
            </a:extLst>
          </p:cNvPr>
          <p:cNvSpPr>
            <a:spLocks noGrp="1"/>
          </p:cNvSpPr>
          <p:nvPr>
            <p:ph type="body" sz="quarter" idx="11"/>
          </p:nvPr>
        </p:nvSpPr>
        <p:spPr/>
        <p:txBody>
          <a:bodyPr/>
          <a:lstStyle/>
          <a:p>
            <a:r>
              <a:rPr lang="en-US" dirty="0"/>
              <a:t>4-30-26</a:t>
            </a:r>
          </a:p>
        </p:txBody>
      </p:sp>
      <p:sp>
        <p:nvSpPr>
          <p:cNvPr id="2" name="Title 1">
            <a:extLst>
              <a:ext uri="{FF2B5EF4-FFF2-40B4-BE49-F238E27FC236}">
                <a16:creationId xmlns:a16="http://schemas.microsoft.com/office/drawing/2014/main" id="{32203804-2049-C44B-8517-05FB957B4859}"/>
              </a:ext>
            </a:extLst>
          </p:cNvPr>
          <p:cNvSpPr>
            <a:spLocks noGrp="1"/>
          </p:cNvSpPr>
          <p:nvPr>
            <p:ph type="title"/>
          </p:nvPr>
        </p:nvSpPr>
        <p:spPr/>
        <p:txBody>
          <a:bodyPr/>
          <a:lstStyle/>
          <a:p>
            <a:br>
              <a:rPr lang="en-US" dirty="0"/>
            </a:br>
            <a:r>
              <a:rPr lang="en-US" dirty="0"/>
              <a:t>Claude Code </a:t>
            </a:r>
          </a:p>
        </p:txBody>
      </p:sp>
    </p:spTree>
    <p:extLst>
      <p:ext uri="{BB962C8B-B14F-4D97-AF65-F5344CB8AC3E}">
        <p14:creationId xmlns:p14="http://schemas.microsoft.com/office/powerpoint/2010/main" val="398490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F4BEC0-F3D8-D013-796E-665C6D994C16}"/>
              </a:ext>
            </a:extLst>
          </p:cNvPr>
          <p:cNvSpPr>
            <a:spLocks noGrp="1"/>
          </p:cNvSpPr>
          <p:nvPr>
            <p:ph type="body" sz="quarter" idx="15"/>
          </p:nvPr>
        </p:nvSpPr>
        <p:spPr/>
        <p:txBody>
          <a:bodyPr/>
          <a:lstStyle/>
          <a:p>
            <a:r>
              <a:rPr lang="en-US" dirty="0"/>
              <a:t>Today’s goals:</a:t>
            </a:r>
          </a:p>
          <a:p>
            <a:pPr marL="819143" lvl="1" indent="-514350">
              <a:buFont typeface="+mj-lt"/>
              <a:buAutoNum type="arabicPeriod"/>
            </a:pPr>
            <a:r>
              <a:rPr lang="en-US" dirty="0"/>
              <a:t>See what a specialized LLM like Claude code can do.</a:t>
            </a:r>
          </a:p>
          <a:p>
            <a:pPr marL="819143" lvl="1" indent="-514350">
              <a:buFont typeface="+mj-lt"/>
              <a:buAutoNum type="arabicPeriod"/>
            </a:pPr>
            <a:r>
              <a:rPr lang="en-US" dirty="0"/>
              <a:t>Understand the power of context.</a:t>
            </a:r>
          </a:p>
          <a:p>
            <a:pPr marL="819143" lvl="1" indent="-514350">
              <a:buFont typeface="+mj-lt"/>
              <a:buAutoNum type="arabicPeriod"/>
            </a:pPr>
            <a:r>
              <a:rPr lang="en-US" dirty="0"/>
              <a:t>Explore how complex applications can be built using a good workflow and layering goals.   </a:t>
            </a:r>
          </a:p>
          <a:p>
            <a:pPr marL="819143" lvl="1" indent="-514350">
              <a:buFont typeface="+mj-lt"/>
              <a:buAutoNum type="arabicPeriod"/>
            </a:pPr>
            <a:endParaRPr lang="en-US" dirty="0"/>
          </a:p>
          <a:p>
            <a:r>
              <a:rPr lang="en-US" dirty="0"/>
              <a:t>We will also look at the Claude interface and walk through the interface. </a:t>
            </a:r>
          </a:p>
          <a:p>
            <a:pPr marL="514350" indent="-514350">
              <a:buFont typeface="+mj-lt"/>
              <a:buAutoNum type="arabicPeriod"/>
            </a:pPr>
            <a:endParaRPr lang="en-US" dirty="0"/>
          </a:p>
        </p:txBody>
      </p:sp>
      <p:sp>
        <p:nvSpPr>
          <p:cNvPr id="4" name="Title 3">
            <a:extLst>
              <a:ext uri="{FF2B5EF4-FFF2-40B4-BE49-F238E27FC236}">
                <a16:creationId xmlns:a16="http://schemas.microsoft.com/office/drawing/2014/main" id="{7272BCC0-ED1A-FEE5-1C92-84BEC38ED9CE}"/>
              </a:ext>
            </a:extLst>
          </p:cNvPr>
          <p:cNvSpPr>
            <a:spLocks noGrp="1"/>
          </p:cNvSpPr>
          <p:nvPr>
            <p:ph type="title"/>
          </p:nvPr>
        </p:nvSpPr>
        <p:spPr/>
        <p:txBody>
          <a:bodyPr/>
          <a:lstStyle/>
          <a:p>
            <a:r>
              <a:rPr lang="en-US" dirty="0"/>
              <a:t>Welcome</a:t>
            </a:r>
          </a:p>
        </p:txBody>
      </p:sp>
    </p:spTree>
    <p:extLst>
      <p:ext uri="{BB962C8B-B14F-4D97-AF65-F5344CB8AC3E}">
        <p14:creationId xmlns:p14="http://schemas.microsoft.com/office/powerpoint/2010/main" val="483782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560DA1-F9E4-254C-87FF-6B8136E874C5}"/>
              </a:ext>
            </a:extLst>
          </p:cNvPr>
          <p:cNvSpPr>
            <a:spLocks noGrp="1"/>
          </p:cNvSpPr>
          <p:nvPr>
            <p:ph type="title"/>
          </p:nvPr>
        </p:nvSpPr>
        <p:spPr/>
        <p:txBody>
          <a:bodyPr/>
          <a:lstStyle/>
          <a:p>
            <a:r>
              <a:rPr lang="en-US" dirty="0"/>
              <a:t>Claude Code and You</a:t>
            </a:r>
          </a:p>
        </p:txBody>
      </p:sp>
    </p:spTree>
    <p:extLst>
      <p:ext uri="{BB962C8B-B14F-4D97-AF65-F5344CB8AC3E}">
        <p14:creationId xmlns:p14="http://schemas.microsoft.com/office/powerpoint/2010/main" val="2838802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914B12-BADC-9D4F-CF67-CB169026406B}"/>
              </a:ext>
            </a:extLst>
          </p:cNvPr>
          <p:cNvSpPr>
            <a:spLocks noGrp="1"/>
          </p:cNvSpPr>
          <p:nvPr>
            <p:ph type="body" sz="quarter" idx="15"/>
          </p:nvPr>
        </p:nvSpPr>
        <p:spPr/>
        <p:txBody>
          <a:bodyPr/>
          <a:lstStyle/>
          <a:p>
            <a:r>
              <a:rPr lang="en-US" sz="2800" b="0" dirty="0"/>
              <a:t>You must have at least a pro subscription to Claude ($17/</a:t>
            </a:r>
            <a:r>
              <a:rPr lang="en-US" sz="2800" b="0" dirty="0" err="1"/>
              <a:t>mo</a:t>
            </a:r>
            <a:r>
              <a:rPr lang="en-US" sz="2800" b="0" dirty="0"/>
              <a:t>)</a:t>
            </a:r>
          </a:p>
          <a:p>
            <a:r>
              <a:rPr lang="en-US" sz="2800" b="0" dirty="0"/>
              <a:t>There is a limit to requests per 5 </a:t>
            </a:r>
            <a:r>
              <a:rPr lang="en-US" sz="2800" b="0" dirty="0" err="1"/>
              <a:t>hr</a:t>
            </a:r>
            <a:r>
              <a:rPr lang="en-US" sz="2800" b="0" dirty="0"/>
              <a:t> window and per week. </a:t>
            </a:r>
          </a:p>
          <a:p>
            <a:r>
              <a:rPr lang="en-US" sz="2800" b="0" dirty="0"/>
              <a:t>I have some configurations in the background that I don’t have time to cover. If you want more details we can do another session.</a:t>
            </a:r>
          </a:p>
          <a:p>
            <a:r>
              <a:rPr lang="en-US" sz="2800" b="0" dirty="0"/>
              <a:t>While this is awesome it’s still has… bugs... The more you know about programing and a language the easier it gets to build and debug.</a:t>
            </a:r>
          </a:p>
          <a:p>
            <a:r>
              <a:rPr lang="en-US" sz="2800" b="0" dirty="0"/>
              <a:t>There is </a:t>
            </a:r>
            <a:r>
              <a:rPr lang="en-US" sz="2800" dirty="0"/>
              <a:t>NO</a:t>
            </a:r>
            <a:r>
              <a:rPr lang="en-US" sz="2800" b="0" dirty="0"/>
              <a:t> complete guidance on the ethics or use of this from the university.</a:t>
            </a:r>
          </a:p>
          <a:p>
            <a:r>
              <a:rPr lang="en-US" sz="2800" b="0" dirty="0"/>
              <a:t>There is no single point of support or licensing from the university. (thanks Mike E and Ram for this opportunity).</a:t>
            </a:r>
          </a:p>
          <a:p>
            <a:endParaRPr lang="en-US" sz="2800" dirty="0"/>
          </a:p>
        </p:txBody>
      </p:sp>
      <p:sp>
        <p:nvSpPr>
          <p:cNvPr id="4" name="Title 3">
            <a:extLst>
              <a:ext uri="{FF2B5EF4-FFF2-40B4-BE49-F238E27FC236}">
                <a16:creationId xmlns:a16="http://schemas.microsoft.com/office/drawing/2014/main" id="{82011BFB-9A60-3227-7662-C122063CF6B7}"/>
              </a:ext>
            </a:extLst>
          </p:cNvPr>
          <p:cNvSpPr>
            <a:spLocks noGrp="1"/>
          </p:cNvSpPr>
          <p:nvPr>
            <p:ph type="title"/>
          </p:nvPr>
        </p:nvSpPr>
        <p:spPr/>
        <p:txBody>
          <a:bodyPr/>
          <a:lstStyle/>
          <a:p>
            <a:r>
              <a:rPr lang="en-US" dirty="0"/>
              <a:t>Disclaimers *** </a:t>
            </a:r>
          </a:p>
        </p:txBody>
      </p:sp>
    </p:spTree>
    <p:extLst>
      <p:ext uri="{BB962C8B-B14F-4D97-AF65-F5344CB8AC3E}">
        <p14:creationId xmlns:p14="http://schemas.microsoft.com/office/powerpoint/2010/main" val="3034454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D2E233-AD73-5C19-211F-08E312DC6502}"/>
              </a:ext>
            </a:extLst>
          </p:cNvPr>
          <p:cNvSpPr>
            <a:spLocks noGrp="1"/>
          </p:cNvSpPr>
          <p:nvPr>
            <p:ph type="body" sz="quarter" idx="15"/>
          </p:nvPr>
        </p:nvSpPr>
        <p:spPr/>
        <p:txBody>
          <a:bodyPr/>
          <a:lstStyle/>
          <a:p>
            <a:r>
              <a:rPr lang="en-US" dirty="0"/>
              <a:t>There are a bunch of different ways to use Claude code.</a:t>
            </a:r>
          </a:p>
          <a:p>
            <a:pPr lvl="1"/>
            <a:r>
              <a:rPr lang="en-US" dirty="0"/>
              <a:t>Native in VS code or Visual studio.</a:t>
            </a:r>
          </a:p>
          <a:p>
            <a:pPr lvl="1"/>
            <a:r>
              <a:rPr lang="en-US" dirty="0"/>
              <a:t>In a </a:t>
            </a:r>
            <a:r>
              <a:rPr lang="en-US" u="sng" dirty="0"/>
              <a:t>C</a:t>
            </a:r>
            <a:r>
              <a:rPr lang="en-US" dirty="0"/>
              <a:t>ommand </a:t>
            </a:r>
            <a:r>
              <a:rPr lang="en-US" u="sng" dirty="0"/>
              <a:t>L</a:t>
            </a:r>
            <a:r>
              <a:rPr lang="en-US" dirty="0"/>
              <a:t>ine </a:t>
            </a:r>
            <a:r>
              <a:rPr lang="en-US" u="sng" dirty="0"/>
              <a:t>I</a:t>
            </a:r>
            <a:r>
              <a:rPr lang="en-US" dirty="0"/>
              <a:t>nterface (CLI).</a:t>
            </a:r>
          </a:p>
          <a:p>
            <a:pPr lvl="1"/>
            <a:r>
              <a:rPr lang="en-US" dirty="0"/>
              <a:t>In the Claude desktop app.</a:t>
            </a:r>
          </a:p>
          <a:p>
            <a:pPr lvl="1"/>
            <a:r>
              <a:rPr lang="en-US" dirty="0"/>
              <a:t>Through GitHub. </a:t>
            </a:r>
          </a:p>
          <a:p>
            <a:pPr lvl="1"/>
            <a:endParaRPr lang="en-US" dirty="0"/>
          </a:p>
          <a:p>
            <a:r>
              <a:rPr lang="en-US" sz="2400" dirty="0"/>
              <a:t>The Desktop app is an easy to use and</a:t>
            </a:r>
            <a:br>
              <a:rPr lang="en-US" sz="2400" dirty="0"/>
            </a:br>
            <a:r>
              <a:rPr lang="en-US" sz="2400" dirty="0"/>
              <a:t>fully functional “IDE” for the non-hardcore.</a:t>
            </a:r>
          </a:p>
        </p:txBody>
      </p:sp>
      <p:sp>
        <p:nvSpPr>
          <p:cNvPr id="4" name="Title 3">
            <a:extLst>
              <a:ext uri="{FF2B5EF4-FFF2-40B4-BE49-F238E27FC236}">
                <a16:creationId xmlns:a16="http://schemas.microsoft.com/office/drawing/2014/main" id="{F5F87CA9-91B1-E258-E5B3-3F55FC4F3F5C}"/>
              </a:ext>
            </a:extLst>
          </p:cNvPr>
          <p:cNvSpPr>
            <a:spLocks noGrp="1"/>
          </p:cNvSpPr>
          <p:nvPr>
            <p:ph type="title"/>
          </p:nvPr>
        </p:nvSpPr>
        <p:spPr/>
        <p:txBody>
          <a:bodyPr/>
          <a:lstStyle/>
          <a:p>
            <a:r>
              <a:rPr lang="en-US" dirty="0"/>
              <a:t>Flavors of Claude</a:t>
            </a:r>
          </a:p>
        </p:txBody>
      </p:sp>
      <p:pic>
        <p:nvPicPr>
          <p:cNvPr id="1026" name="Picture 2">
            <a:extLst>
              <a:ext uri="{FF2B5EF4-FFF2-40B4-BE49-F238E27FC236}">
                <a16:creationId xmlns:a16="http://schemas.microsoft.com/office/drawing/2014/main" id="{5D459AD1-D3EA-AD18-8784-4FDAC3E42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159" y="2424817"/>
            <a:ext cx="4423803" cy="3921811"/>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366B68E5-5ADE-CC04-6B28-0966E447FAB4}"/>
              </a:ext>
            </a:extLst>
          </p:cNvPr>
          <p:cNvSpPr/>
          <p:nvPr/>
        </p:nvSpPr>
        <p:spPr>
          <a:xfrm rot="12826601">
            <a:off x="5028766" y="3897115"/>
            <a:ext cx="1051034" cy="27326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728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0E9013-DE59-30A3-3F28-E901F87BE726}"/>
              </a:ext>
            </a:extLst>
          </p:cNvPr>
          <p:cNvSpPr>
            <a:spLocks noGrp="1"/>
          </p:cNvSpPr>
          <p:nvPr>
            <p:ph type="body" sz="quarter" idx="15"/>
          </p:nvPr>
        </p:nvSpPr>
        <p:spPr/>
        <p:txBody>
          <a:bodyPr/>
          <a:lstStyle/>
          <a:p>
            <a:r>
              <a:rPr lang="en-US" dirty="0"/>
              <a:t>During this presentation look for </a:t>
            </a:r>
            <a:r>
              <a:rPr lang="en-US" u="sng" dirty="0"/>
              <a:t>two</a:t>
            </a:r>
            <a:r>
              <a:rPr lang="en-US" dirty="0"/>
              <a:t> ways that you might be able to use Claude code.</a:t>
            </a:r>
          </a:p>
          <a:p>
            <a:pPr lvl="1"/>
            <a:r>
              <a:rPr lang="en-US" dirty="0"/>
              <a:t>Research.</a:t>
            </a:r>
          </a:p>
          <a:p>
            <a:pPr lvl="1"/>
            <a:r>
              <a:rPr lang="en-US" dirty="0"/>
              <a:t>Class artifacts.</a:t>
            </a:r>
          </a:p>
          <a:p>
            <a:pPr lvl="1"/>
            <a:r>
              <a:rPr lang="en-US" dirty="0"/>
              <a:t>Tools to help you at work.</a:t>
            </a:r>
          </a:p>
          <a:p>
            <a:pPr lvl="1"/>
            <a:r>
              <a:rPr lang="en-US" dirty="0"/>
              <a:t>Personal applications.</a:t>
            </a:r>
          </a:p>
          <a:p>
            <a:pPr lvl="1"/>
            <a:endParaRPr lang="en-US" dirty="0"/>
          </a:p>
          <a:p>
            <a:r>
              <a:rPr lang="en-US" dirty="0"/>
              <a:t>Make a note for later, we’ll share with the class… if there's time.</a:t>
            </a:r>
          </a:p>
          <a:p>
            <a:pPr lvl="1"/>
            <a:endParaRPr lang="en-US" dirty="0"/>
          </a:p>
        </p:txBody>
      </p:sp>
      <p:sp>
        <p:nvSpPr>
          <p:cNvPr id="4" name="Title 3">
            <a:extLst>
              <a:ext uri="{FF2B5EF4-FFF2-40B4-BE49-F238E27FC236}">
                <a16:creationId xmlns:a16="http://schemas.microsoft.com/office/drawing/2014/main" id="{24C18BF2-09CD-12A2-B160-D86B8202BD96}"/>
              </a:ext>
            </a:extLst>
          </p:cNvPr>
          <p:cNvSpPr>
            <a:spLocks noGrp="1"/>
          </p:cNvSpPr>
          <p:nvPr>
            <p:ph type="title"/>
          </p:nvPr>
        </p:nvSpPr>
        <p:spPr/>
        <p:txBody>
          <a:bodyPr/>
          <a:lstStyle/>
          <a:p>
            <a:r>
              <a:rPr lang="en-US" dirty="0"/>
              <a:t>Homework (yes this is a thing)</a:t>
            </a:r>
          </a:p>
        </p:txBody>
      </p:sp>
    </p:spTree>
    <p:extLst>
      <p:ext uri="{BB962C8B-B14F-4D97-AF65-F5344CB8AC3E}">
        <p14:creationId xmlns:p14="http://schemas.microsoft.com/office/powerpoint/2010/main" val="4752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4149CF-69A2-E5FB-3551-ECC269CCBDD8}"/>
              </a:ext>
            </a:extLst>
          </p:cNvPr>
          <p:cNvSpPr>
            <a:spLocks noGrp="1"/>
          </p:cNvSpPr>
          <p:nvPr>
            <p:ph type="title"/>
          </p:nvPr>
        </p:nvSpPr>
        <p:spPr/>
        <p:txBody>
          <a:bodyPr/>
          <a:lstStyle/>
          <a:p>
            <a:r>
              <a:rPr lang="en-US" dirty="0"/>
              <a:t>What is Claude Code</a:t>
            </a:r>
          </a:p>
        </p:txBody>
      </p:sp>
    </p:spTree>
    <p:extLst>
      <p:ext uri="{BB962C8B-B14F-4D97-AF65-F5344CB8AC3E}">
        <p14:creationId xmlns:p14="http://schemas.microsoft.com/office/powerpoint/2010/main" val="3334811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94E46C-2BF9-FC36-0345-E6EB7B5B79E8}"/>
              </a:ext>
            </a:extLst>
          </p:cNvPr>
          <p:cNvSpPr>
            <a:spLocks noGrp="1"/>
          </p:cNvSpPr>
          <p:nvPr>
            <p:ph type="title"/>
          </p:nvPr>
        </p:nvSpPr>
        <p:spPr/>
        <p:txBody>
          <a:bodyPr/>
          <a:lstStyle/>
          <a:p>
            <a:r>
              <a:rPr lang="en-US" dirty="0"/>
              <a:t>General LLM vs. Specialized LLM</a:t>
            </a:r>
          </a:p>
        </p:txBody>
      </p:sp>
      <p:sp>
        <p:nvSpPr>
          <p:cNvPr id="20" name="LeftCard"/>
          <p:cNvSpPr>
            <a:spLocks noGrp="1"/>
          </p:cNvSpPr>
          <p:nvPr/>
        </p:nvSpPr>
        <p:spPr>
          <a:xfrm>
            <a:off x="317500" y="1651000"/>
            <a:ext cx="5334000" cy="4571670"/>
          </a:xfrm>
          <a:prstGeom prst="roundRect">
            <a:avLst>
              <a:gd name="adj" fmla="val 30000"/>
            </a:avLst>
          </a:prstGeom>
          <a:solidFill>
            <a:srgbClr val="F0F0F0"/>
          </a:solidFill>
          <a:ln>
            <a:noFill/>
          </a:ln>
        </p:spPr>
        <p:txBody>
          <a:bodyPr/>
          <a:lstStyle/>
          <a:p>
            <a:endParaRPr lang="en-US" dirty="0"/>
          </a:p>
        </p:txBody>
      </p:sp>
      <p:sp>
        <p:nvSpPr>
          <p:cNvPr id="21" name="LeftHeader"/>
          <p:cNvSpPr>
            <a:spLocks noGrp="1"/>
          </p:cNvSpPr>
          <p:nvPr/>
        </p:nvSpPr>
        <p:spPr>
          <a:xfrm>
            <a:off x="317500" y="1651000"/>
            <a:ext cx="5334000" cy="914400"/>
          </a:xfrm>
          <a:prstGeom prst="roundRect">
            <a:avLst>
              <a:gd name="adj" fmla="val 30000"/>
            </a:avLst>
          </a:prstGeom>
          <a:solidFill>
            <a:srgbClr val="6F706F"/>
          </a:solidFill>
          <a:ln>
            <a:noFill/>
          </a:ln>
        </p:spPr>
        <p:txBody>
          <a:bodyPr/>
          <a:lstStyle/>
          <a:p>
            <a:endParaRPr lang="en-US" dirty="0"/>
          </a:p>
        </p:txBody>
      </p:sp>
      <p:sp>
        <p:nvSpPr>
          <p:cNvPr id="22" name="LeftTitle"/>
          <p:cNvSpPr txBox="1">
            <a:spLocks noGrp="1"/>
          </p:cNvSpPr>
          <p:nvPr/>
        </p:nvSpPr>
        <p:spPr>
          <a:xfrm>
            <a:off x="1016000" y="1701800"/>
            <a:ext cx="4495800" cy="812800"/>
          </a:xfrm>
          <a:prstGeom prst="rect">
            <a:avLst/>
          </a:prstGeom>
          <a:noFill/>
          <a:ln>
            <a:noFill/>
          </a:ln>
        </p:spPr>
        <p:txBody>
          <a:bodyPr wrap="square" lIns="0" tIns="0" rIns="0" bIns="0" anchor="ctr"/>
          <a:lstStyle/>
          <a:p>
            <a:pPr algn="ctr">
              <a:buNone/>
            </a:pPr>
            <a:r>
              <a:rPr lang="en-US" sz="2200" b="1" dirty="0">
                <a:solidFill>
                  <a:srgbClr val="FFFFFF"/>
                </a:solidFill>
              </a:rPr>
              <a:t>General LLM</a:t>
            </a:r>
          </a:p>
          <a:p>
            <a:pPr algn="ctr">
              <a:buNone/>
            </a:pPr>
            <a:r>
              <a:rPr lang="en-US" sz="1400" dirty="0">
                <a:solidFill>
                  <a:srgbClr val="DDDDDD"/>
                </a:solidFill>
              </a:rPr>
              <a:t>e.g. Base GPT, Gemini</a:t>
            </a:r>
          </a:p>
        </p:txBody>
      </p:sp>
      <p:sp>
        <p:nvSpPr>
          <p:cNvPr id="23" name="LeftBullets"/>
          <p:cNvSpPr txBox="1">
            <a:spLocks noGrp="1"/>
          </p:cNvSpPr>
          <p:nvPr/>
        </p:nvSpPr>
        <p:spPr>
          <a:xfrm>
            <a:off x="546100" y="2667000"/>
            <a:ext cx="4876800" cy="3124200"/>
          </a:xfrm>
          <a:prstGeom prst="rect">
            <a:avLst/>
          </a:prstGeom>
          <a:noFill/>
          <a:ln>
            <a:noFill/>
          </a:ln>
        </p:spPr>
        <p:txBody>
          <a:bodyPr wrap="square" lIns="0" tIns="0" rIns="0" bIns="0" anchor="t"/>
          <a:lstStyle/>
          <a:p>
            <a:pPr marL="114300" indent="-114300">
              <a:buNone/>
            </a:pPr>
            <a:r>
              <a:rPr lang="en-US" sz="2000" b="1" dirty="0">
                <a:solidFill>
                  <a:srgbClr val="444444"/>
                </a:solidFill>
              </a:rPr>
              <a:t>Broad knowledge coverage</a:t>
            </a:r>
          </a:p>
          <a:p>
            <a:pPr marL="114300" indent="0">
              <a:buNone/>
            </a:pPr>
            <a:r>
              <a:rPr lang="en-US" sz="1800" dirty="0">
                <a:solidFill>
                  <a:srgbClr val="888888"/>
                </a:solidFill>
              </a:rPr>
              <a:t>Trained on general internet data</a:t>
            </a:r>
          </a:p>
          <a:p>
            <a:pPr marL="114300" indent="-114300">
              <a:buNone/>
            </a:pPr>
            <a:r>
              <a:rPr lang="en-US" sz="2000" b="1" dirty="0">
                <a:solidFill>
                  <a:srgbClr val="444444"/>
                </a:solidFill>
              </a:rPr>
              <a:t>One-size-fits-all responses</a:t>
            </a:r>
          </a:p>
          <a:p>
            <a:pPr marL="114300" indent="0">
              <a:buNone/>
            </a:pPr>
            <a:r>
              <a:rPr lang="en-US" sz="1800" dirty="0">
                <a:solidFill>
                  <a:srgbClr val="888888"/>
                </a:solidFill>
              </a:rPr>
              <a:t>No domain customization</a:t>
            </a:r>
          </a:p>
          <a:p>
            <a:pPr marL="114300" indent="-114300">
              <a:buNone/>
            </a:pPr>
            <a:r>
              <a:rPr lang="en-US" sz="2000" b="1" dirty="0">
                <a:solidFill>
                  <a:srgbClr val="444444"/>
                </a:solidFill>
              </a:rPr>
              <a:t>Inconsistent tone &amp; style</a:t>
            </a:r>
          </a:p>
          <a:p>
            <a:pPr marL="114300" indent="0">
              <a:buNone/>
            </a:pPr>
            <a:r>
              <a:rPr lang="en-US" sz="1800" dirty="0">
                <a:solidFill>
                  <a:srgbClr val="888888"/>
                </a:solidFill>
              </a:rPr>
              <a:t>Varies across topics and tasks</a:t>
            </a:r>
          </a:p>
          <a:p>
            <a:pPr marL="114300" indent="-114300">
              <a:buNone/>
            </a:pPr>
            <a:r>
              <a:rPr lang="en-US" sz="2000" b="1" dirty="0">
                <a:solidFill>
                  <a:srgbClr val="444444"/>
                </a:solidFill>
              </a:rPr>
              <a:t>No task specialization</a:t>
            </a:r>
          </a:p>
          <a:p>
            <a:pPr marL="114300" indent="0">
              <a:buNone/>
            </a:pPr>
            <a:r>
              <a:rPr lang="en-US" sz="1800" dirty="0">
                <a:solidFill>
                  <a:srgbClr val="888888"/>
                </a:solidFill>
              </a:rPr>
              <a:t>Mediocre at deep domain tasks</a:t>
            </a:r>
          </a:p>
          <a:p>
            <a:pPr marL="114300" indent="-114300">
              <a:buNone/>
            </a:pPr>
            <a:r>
              <a:rPr lang="en-US" sz="2000" b="1" dirty="0">
                <a:solidFill>
                  <a:srgbClr val="444444"/>
                </a:solidFill>
              </a:rPr>
              <a:t>Minimal safety tuning</a:t>
            </a:r>
          </a:p>
          <a:p>
            <a:pPr marL="114300" indent="0">
              <a:buNone/>
            </a:pPr>
            <a:r>
              <a:rPr lang="en-US" sz="1800" dirty="0">
                <a:solidFill>
                  <a:srgbClr val="888888"/>
                </a:solidFill>
              </a:rPr>
              <a:t>Generic guardrails only</a:t>
            </a:r>
          </a:p>
        </p:txBody>
      </p:sp>
      <p:sp>
        <p:nvSpPr>
          <p:cNvPr id="30" name="RightCard"/>
          <p:cNvSpPr>
            <a:spLocks noGrp="1"/>
          </p:cNvSpPr>
          <p:nvPr/>
        </p:nvSpPr>
        <p:spPr>
          <a:xfrm>
            <a:off x="6540500" y="1651000"/>
            <a:ext cx="5334000" cy="4571670"/>
          </a:xfrm>
          <a:prstGeom prst="roundRect">
            <a:avLst>
              <a:gd name="adj" fmla="val 30000"/>
            </a:avLst>
          </a:prstGeom>
          <a:solidFill>
            <a:srgbClr val="FFF4EC"/>
          </a:solidFill>
          <a:ln>
            <a:noFill/>
          </a:ln>
        </p:spPr>
        <p:txBody>
          <a:bodyPr/>
          <a:lstStyle/>
          <a:p>
            <a:endParaRPr lang="en-US" dirty="0"/>
          </a:p>
        </p:txBody>
      </p:sp>
      <p:sp>
        <p:nvSpPr>
          <p:cNvPr id="31" name="RightHeader"/>
          <p:cNvSpPr>
            <a:spLocks noGrp="1"/>
          </p:cNvSpPr>
          <p:nvPr/>
        </p:nvSpPr>
        <p:spPr>
          <a:xfrm>
            <a:off x="6540500" y="1651000"/>
            <a:ext cx="5334000" cy="914400"/>
          </a:xfrm>
          <a:prstGeom prst="roundRect">
            <a:avLst>
              <a:gd name="adj" fmla="val 30000"/>
            </a:avLst>
          </a:prstGeom>
          <a:solidFill>
            <a:srgbClr val="F66900"/>
          </a:solidFill>
          <a:ln>
            <a:noFill/>
          </a:ln>
        </p:spPr>
        <p:txBody>
          <a:bodyPr/>
          <a:lstStyle/>
          <a:p>
            <a:endParaRPr lang="en-US" dirty="0"/>
          </a:p>
        </p:txBody>
      </p:sp>
      <p:sp>
        <p:nvSpPr>
          <p:cNvPr id="32" name="RightTitle"/>
          <p:cNvSpPr txBox="1">
            <a:spLocks noGrp="1"/>
          </p:cNvSpPr>
          <p:nvPr/>
        </p:nvSpPr>
        <p:spPr>
          <a:xfrm>
            <a:off x="7239000" y="1701800"/>
            <a:ext cx="4495800" cy="812800"/>
          </a:xfrm>
          <a:prstGeom prst="rect">
            <a:avLst/>
          </a:prstGeom>
          <a:noFill/>
          <a:ln>
            <a:noFill/>
          </a:ln>
        </p:spPr>
        <p:txBody>
          <a:bodyPr wrap="square" lIns="0" tIns="0" rIns="0" bIns="0" anchor="ctr"/>
          <a:lstStyle/>
          <a:p>
            <a:pPr algn="ctr">
              <a:buNone/>
            </a:pPr>
            <a:r>
              <a:rPr lang="en-US" sz="2200" b="1" dirty="0">
                <a:solidFill>
                  <a:srgbClr val="FFFFFF"/>
                </a:solidFill>
              </a:rPr>
              <a:t>Specialized LLM</a:t>
            </a:r>
          </a:p>
          <a:p>
            <a:pPr algn="ctr">
              <a:buNone/>
            </a:pPr>
            <a:r>
              <a:rPr lang="en-US" sz="1400" dirty="0">
                <a:solidFill>
                  <a:srgbClr val="FFD8B8"/>
                </a:solidFill>
              </a:rPr>
              <a:t>e.g. Claude Code by Anthropic</a:t>
            </a:r>
          </a:p>
        </p:txBody>
      </p:sp>
      <p:sp>
        <p:nvSpPr>
          <p:cNvPr id="33" name="RightBullets"/>
          <p:cNvSpPr txBox="1">
            <a:spLocks noGrp="1"/>
          </p:cNvSpPr>
          <p:nvPr/>
        </p:nvSpPr>
        <p:spPr>
          <a:xfrm>
            <a:off x="6769100" y="2667000"/>
            <a:ext cx="4876800" cy="3555670"/>
          </a:xfrm>
          <a:prstGeom prst="rect">
            <a:avLst/>
          </a:prstGeom>
          <a:noFill/>
          <a:ln>
            <a:noFill/>
          </a:ln>
        </p:spPr>
        <p:txBody>
          <a:bodyPr wrap="square" lIns="0" tIns="0" rIns="0" bIns="0" anchor="t"/>
          <a:lstStyle/>
          <a:p>
            <a:pPr marL="114300" indent="-114300">
              <a:buNone/>
            </a:pPr>
            <a:r>
              <a:rPr lang="en-US" sz="2000" b="1" dirty="0">
                <a:solidFill>
                  <a:srgbClr val="7A3300"/>
                </a:solidFill>
              </a:rPr>
              <a:t>Deep domain expertise</a:t>
            </a:r>
          </a:p>
          <a:p>
            <a:pPr marL="114300" indent="0">
              <a:buNone/>
            </a:pPr>
            <a:r>
              <a:rPr lang="en-US" sz="1800" dirty="0">
                <a:solidFill>
                  <a:srgbClr val="C05020"/>
                </a:solidFill>
              </a:rPr>
              <a:t>Fine-tuned for specific use cases</a:t>
            </a:r>
          </a:p>
          <a:p>
            <a:pPr marL="114300" indent="-114300">
              <a:buNone/>
            </a:pPr>
            <a:r>
              <a:rPr lang="en-US" sz="2000" b="1" dirty="0">
                <a:solidFill>
                  <a:srgbClr val="7A3300"/>
                </a:solidFill>
              </a:rPr>
              <a:t>Consistent voice &amp; tone</a:t>
            </a:r>
          </a:p>
          <a:p>
            <a:pPr marL="114300" indent="0">
              <a:buNone/>
            </a:pPr>
            <a:r>
              <a:rPr lang="en-US" sz="1800" dirty="0">
                <a:solidFill>
                  <a:srgbClr val="C05020"/>
                </a:solidFill>
              </a:rPr>
              <a:t>Aligned to brand or task persona</a:t>
            </a:r>
          </a:p>
          <a:p>
            <a:pPr marL="114300" indent="-114300">
              <a:buNone/>
            </a:pPr>
            <a:r>
              <a:rPr lang="en-US" sz="2000" b="1" dirty="0">
                <a:solidFill>
                  <a:srgbClr val="7A3300"/>
                </a:solidFill>
              </a:rPr>
              <a:t>Task-optimized reasoning</a:t>
            </a:r>
          </a:p>
          <a:p>
            <a:pPr marL="114300" indent="0">
              <a:buNone/>
            </a:pPr>
            <a:r>
              <a:rPr lang="en-US" sz="1800" dirty="0">
                <a:solidFill>
                  <a:srgbClr val="C05020"/>
                </a:solidFill>
              </a:rPr>
              <a:t>Excels at coding, analysis, writing</a:t>
            </a:r>
          </a:p>
          <a:p>
            <a:pPr marL="114300" indent="-114300">
              <a:buNone/>
            </a:pPr>
            <a:r>
              <a:rPr lang="en-US" sz="2000" b="1" dirty="0">
                <a:solidFill>
                  <a:srgbClr val="7A3300"/>
                </a:solidFill>
              </a:rPr>
              <a:t>Constitutional AI safety</a:t>
            </a:r>
          </a:p>
          <a:p>
            <a:pPr marL="114300" indent="0">
              <a:buNone/>
            </a:pPr>
            <a:r>
              <a:rPr lang="en-US" sz="1800" dirty="0">
                <a:solidFill>
                  <a:srgbClr val="C05020"/>
                </a:solidFill>
              </a:rPr>
              <a:t>Helpful, harmless, and honest</a:t>
            </a:r>
          </a:p>
          <a:p>
            <a:pPr marL="114300" indent="-114300">
              <a:buNone/>
            </a:pPr>
            <a:r>
              <a:rPr lang="en-US" sz="2000" b="1" dirty="0">
                <a:solidFill>
                  <a:srgbClr val="7A3300"/>
                </a:solidFill>
              </a:rPr>
              <a:t>Context-aware responses</a:t>
            </a:r>
          </a:p>
          <a:p>
            <a:pPr marL="114300" indent="0">
              <a:buNone/>
            </a:pPr>
            <a:r>
              <a:rPr lang="en-US" sz="1800" dirty="0">
                <a:solidFill>
                  <a:srgbClr val="C05020"/>
                </a:solidFill>
              </a:rPr>
              <a:t>Understands nuance and intent</a:t>
            </a:r>
          </a:p>
        </p:txBody>
      </p:sp>
      <p:sp>
        <p:nvSpPr>
          <p:cNvPr id="40" name="VSCircle"/>
          <p:cNvSpPr>
            <a:spLocks noGrp="1"/>
          </p:cNvSpPr>
          <p:nvPr/>
        </p:nvSpPr>
        <p:spPr>
          <a:xfrm>
            <a:off x="5638800" y="3505200"/>
            <a:ext cx="914400" cy="914400"/>
          </a:xfrm>
          <a:prstGeom prst="roundRect">
            <a:avLst>
              <a:gd name="adj" fmla="val 30000"/>
            </a:avLst>
          </a:prstGeom>
          <a:solidFill>
            <a:srgbClr val="F6BD00"/>
          </a:solidFill>
          <a:ln>
            <a:noFill/>
          </a:ln>
        </p:spPr>
        <p:txBody>
          <a:bodyPr/>
          <a:lstStyle/>
          <a:p>
            <a:endParaRPr lang="en-US" dirty="0"/>
          </a:p>
        </p:txBody>
      </p:sp>
      <p:sp>
        <p:nvSpPr>
          <p:cNvPr id="41" name="VSLabel"/>
          <p:cNvSpPr txBox="1">
            <a:spLocks noGrp="1"/>
          </p:cNvSpPr>
          <p:nvPr/>
        </p:nvSpPr>
        <p:spPr>
          <a:xfrm>
            <a:off x="5638800" y="3505200"/>
            <a:ext cx="914400" cy="914400"/>
          </a:xfrm>
          <a:prstGeom prst="rect">
            <a:avLst/>
          </a:prstGeom>
          <a:noFill/>
          <a:ln>
            <a:noFill/>
          </a:ln>
        </p:spPr>
        <p:txBody>
          <a:bodyPr wrap="square" lIns="0" tIns="0" rIns="0" bIns="0" anchor="ctr"/>
          <a:lstStyle/>
          <a:p>
            <a:pPr algn="ctr">
              <a:buNone/>
            </a:pPr>
            <a:r>
              <a:rPr lang="en-US" sz="2000" b="1" dirty="0">
                <a:solidFill>
                  <a:srgbClr val="FFFFFF"/>
                </a:solidFill>
              </a:rPr>
              <a:t>VS</a:t>
            </a:r>
          </a:p>
        </p:txBody>
      </p:sp>
      <p:pic>
        <p:nvPicPr>
          <p:cNvPr id="42" name="Graphic 42" descr="Globe icon for General LLM"/>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1800" y="1816100"/>
            <a:ext cx="508000" cy="508000"/>
          </a:xfrm>
          <a:prstGeom prst="rect">
            <a:avLst/>
          </a:prstGeom>
        </p:spPr>
      </p:pic>
      <p:pic>
        <p:nvPicPr>
          <p:cNvPr id="43" name="Graphic 43" descr="Target icon for Specialized LLM"/>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4800" y="1816100"/>
            <a:ext cx="508000" cy="508000"/>
          </a:xfrm>
          <a:prstGeom prst="rect">
            <a:avLst/>
          </a:prstGeom>
        </p:spPr>
      </p:pic>
    </p:spTree>
    <p:extLst>
      <p:ext uri="{BB962C8B-B14F-4D97-AF65-F5344CB8AC3E}">
        <p14:creationId xmlns:p14="http://schemas.microsoft.com/office/powerpoint/2010/main" val="870856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D54246-0E29-6E5E-1FF0-13510B5AC26B}"/>
              </a:ext>
            </a:extLst>
          </p:cNvPr>
          <p:cNvSpPr>
            <a:spLocks noGrp="1"/>
          </p:cNvSpPr>
          <p:nvPr>
            <p:ph type="body" sz="quarter" idx="15"/>
          </p:nvPr>
        </p:nvSpPr>
        <p:spPr/>
        <p:txBody>
          <a:bodyPr/>
          <a:lstStyle/>
          <a:p>
            <a:r>
              <a:rPr lang="en-US" dirty="0"/>
              <a:t>Writing “basic” code for a class project.</a:t>
            </a:r>
          </a:p>
          <a:p>
            <a:r>
              <a:rPr lang="en-US" dirty="0"/>
              <a:t>Prompt 1:</a:t>
            </a:r>
          </a:p>
          <a:p>
            <a:pPr lvl="1"/>
            <a:r>
              <a:rPr lang="en-US" i="1" dirty="0"/>
              <a:t>“I would like you to build a file I can compile for my MSP-430 that has an LED as an output. The led will have a heartbeat type fade, the period and rate will be controlled by two potentiometers” </a:t>
            </a:r>
          </a:p>
          <a:p>
            <a:pPr lvl="1"/>
            <a:endParaRPr lang="en-US" i="1" dirty="0"/>
          </a:p>
          <a:p>
            <a:pPr lvl="1"/>
            <a:r>
              <a:rPr lang="en-US" dirty="0"/>
              <a:t>This is an example of a basic prompt, there little specifics and no instructions on how to build this or what it’s for.</a:t>
            </a:r>
          </a:p>
          <a:p>
            <a:pPr lvl="2"/>
            <a:r>
              <a:rPr lang="en-US" dirty="0"/>
              <a:t>We’ll build a better prompt later</a:t>
            </a:r>
          </a:p>
        </p:txBody>
      </p:sp>
      <p:sp>
        <p:nvSpPr>
          <p:cNvPr id="4" name="Title 3">
            <a:extLst>
              <a:ext uri="{FF2B5EF4-FFF2-40B4-BE49-F238E27FC236}">
                <a16:creationId xmlns:a16="http://schemas.microsoft.com/office/drawing/2014/main" id="{E694A240-5071-717E-3666-A17414BC29E0}"/>
              </a:ext>
            </a:extLst>
          </p:cNvPr>
          <p:cNvSpPr>
            <a:spLocks noGrp="1"/>
          </p:cNvSpPr>
          <p:nvPr>
            <p:ph type="title"/>
          </p:nvPr>
        </p:nvSpPr>
        <p:spPr/>
        <p:txBody>
          <a:bodyPr/>
          <a:lstStyle/>
          <a:p>
            <a:r>
              <a:rPr lang="en-US" dirty="0"/>
              <a:t>Our First Project</a:t>
            </a:r>
          </a:p>
        </p:txBody>
      </p:sp>
    </p:spTree>
    <p:extLst>
      <p:ext uri="{BB962C8B-B14F-4D97-AF65-F5344CB8AC3E}">
        <p14:creationId xmlns:p14="http://schemas.microsoft.com/office/powerpoint/2010/main" val="96504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B6A223-3930-131E-8500-8479936C3F0D}"/>
              </a:ext>
            </a:extLst>
          </p:cNvPr>
          <p:cNvSpPr>
            <a:spLocks noGrp="1"/>
          </p:cNvSpPr>
          <p:nvPr>
            <p:ph type="title"/>
          </p:nvPr>
        </p:nvSpPr>
        <p:spPr/>
        <p:txBody>
          <a:bodyPr/>
          <a:lstStyle/>
          <a:p>
            <a:r>
              <a:rPr lang="en-US" dirty="0"/>
              <a:t>How Claude Code Understands Context</a:t>
            </a:r>
          </a:p>
        </p:txBody>
      </p:sp>
      <p:sp>
        <p:nvSpPr>
          <p:cNvPr id="60" name="Strip60"/>
          <p:cNvSpPr>
            <a:spLocks noGrp="1"/>
          </p:cNvSpPr>
          <p:nvPr/>
        </p:nvSpPr>
        <p:spPr>
          <a:xfrm>
            <a:off x="279400" y="2104735"/>
            <a:ext cx="3911600" cy="812800"/>
          </a:xfrm>
          <a:prstGeom prst="roundRect">
            <a:avLst>
              <a:gd name="adj" fmla="val 15000"/>
            </a:avLst>
          </a:prstGeom>
          <a:solidFill>
            <a:srgbClr val="009CBD"/>
          </a:solidFill>
          <a:ln>
            <a:noFill/>
          </a:ln>
        </p:spPr>
        <p:txBody>
          <a:bodyPr/>
          <a:lstStyle/>
          <a:p>
            <a:endParaRPr lang="en-US" dirty="0"/>
          </a:p>
        </p:txBody>
      </p:sp>
      <p:sp>
        <p:nvSpPr>
          <p:cNvPr id="61" name="Acc60"/>
          <p:cNvSpPr>
            <a:spLocks noGrp="1"/>
          </p:cNvSpPr>
          <p:nvPr/>
        </p:nvSpPr>
        <p:spPr>
          <a:xfrm>
            <a:off x="279400" y="2104735"/>
            <a:ext cx="127000" cy="812800"/>
          </a:xfrm>
          <a:prstGeom prst="rect">
            <a:avLst/>
          </a:prstGeom>
          <a:solidFill>
            <a:srgbClr val="006E88"/>
          </a:solidFill>
          <a:ln>
            <a:noFill/>
          </a:ln>
        </p:spPr>
        <p:txBody>
          <a:bodyPr/>
          <a:lstStyle/>
          <a:p>
            <a:endParaRPr lang="en-US" dirty="0"/>
          </a:p>
        </p:txBody>
      </p:sp>
      <p:sp>
        <p:nvSpPr>
          <p:cNvPr id="62" name="Txt60"/>
          <p:cNvSpPr txBox="1">
            <a:spLocks noGrp="1"/>
          </p:cNvSpPr>
          <p:nvPr/>
        </p:nvSpPr>
        <p:spPr>
          <a:xfrm>
            <a:off x="469900" y="2250785"/>
            <a:ext cx="3683000" cy="711200"/>
          </a:xfrm>
          <a:prstGeom prst="rect">
            <a:avLst/>
          </a:prstGeom>
          <a:noFill/>
          <a:ln>
            <a:noFill/>
          </a:ln>
        </p:spPr>
        <p:txBody>
          <a:bodyPr wrap="square" lIns="57150" tIns="0" rIns="57150" bIns="0" anchor="ctr"/>
          <a:lstStyle/>
          <a:p>
            <a:pPr algn="l">
              <a:buNone/>
            </a:pPr>
            <a:r>
              <a:rPr lang="en-US" sz="1500" b="1" dirty="0">
                <a:solidFill>
                  <a:srgbClr val="FFFFFF"/>
                </a:solidFill>
              </a:rPr>
              <a:t>Relevant Project Data</a:t>
            </a:r>
          </a:p>
          <a:p>
            <a:pPr algn="l">
              <a:buNone/>
            </a:pPr>
            <a:r>
              <a:rPr lang="en-US" sz="1200" dirty="0">
                <a:solidFill>
                  <a:srgbClr val="EEEEEE"/>
                </a:solidFill>
              </a:rPr>
              <a:t>Files, code, docs in your project</a:t>
            </a:r>
          </a:p>
        </p:txBody>
      </p:sp>
      <p:sp>
        <p:nvSpPr>
          <p:cNvPr id="70" name="Strip70"/>
          <p:cNvSpPr>
            <a:spLocks noGrp="1"/>
          </p:cNvSpPr>
          <p:nvPr/>
        </p:nvSpPr>
        <p:spPr>
          <a:xfrm>
            <a:off x="279400" y="3120735"/>
            <a:ext cx="3911600" cy="812800"/>
          </a:xfrm>
          <a:prstGeom prst="roundRect">
            <a:avLst>
              <a:gd name="adj" fmla="val 15000"/>
            </a:avLst>
          </a:prstGeom>
          <a:solidFill>
            <a:srgbClr val="F66900"/>
          </a:solidFill>
          <a:ln>
            <a:noFill/>
          </a:ln>
        </p:spPr>
        <p:txBody>
          <a:bodyPr/>
          <a:lstStyle/>
          <a:p>
            <a:endParaRPr lang="en-US" dirty="0"/>
          </a:p>
        </p:txBody>
      </p:sp>
      <p:sp>
        <p:nvSpPr>
          <p:cNvPr id="71" name="Acc70"/>
          <p:cNvSpPr>
            <a:spLocks noGrp="1"/>
          </p:cNvSpPr>
          <p:nvPr/>
        </p:nvSpPr>
        <p:spPr>
          <a:xfrm>
            <a:off x="279400" y="3120735"/>
            <a:ext cx="127000" cy="812800"/>
          </a:xfrm>
          <a:prstGeom prst="rect">
            <a:avLst/>
          </a:prstGeom>
          <a:solidFill>
            <a:srgbClr val="B34D00"/>
          </a:solidFill>
          <a:ln>
            <a:noFill/>
          </a:ln>
        </p:spPr>
        <p:txBody>
          <a:bodyPr/>
          <a:lstStyle/>
          <a:p>
            <a:endParaRPr lang="en-US" dirty="0"/>
          </a:p>
        </p:txBody>
      </p:sp>
      <p:sp>
        <p:nvSpPr>
          <p:cNvPr id="72" name="Txt70"/>
          <p:cNvSpPr txBox="1">
            <a:spLocks noGrp="1"/>
          </p:cNvSpPr>
          <p:nvPr/>
        </p:nvSpPr>
        <p:spPr>
          <a:xfrm>
            <a:off x="444500" y="3273135"/>
            <a:ext cx="3683000" cy="711200"/>
          </a:xfrm>
          <a:prstGeom prst="rect">
            <a:avLst/>
          </a:prstGeom>
          <a:noFill/>
          <a:ln>
            <a:noFill/>
          </a:ln>
        </p:spPr>
        <p:txBody>
          <a:bodyPr wrap="square" lIns="57150" tIns="0" rIns="57150" bIns="0" anchor="ctr"/>
          <a:lstStyle/>
          <a:p>
            <a:pPr algn="l">
              <a:buNone/>
            </a:pPr>
            <a:r>
              <a:rPr lang="en-US" sz="1500" b="1" dirty="0">
                <a:solidFill>
                  <a:srgbClr val="FFFFFF"/>
                </a:solidFill>
              </a:rPr>
              <a:t>Prior Conversation</a:t>
            </a:r>
          </a:p>
          <a:p>
            <a:pPr algn="l">
              <a:buNone/>
            </a:pPr>
            <a:r>
              <a:rPr lang="en-US" sz="1200" dirty="0">
                <a:solidFill>
                  <a:srgbClr val="EEEEEE"/>
                </a:solidFill>
              </a:rPr>
              <a:t>Everything said earlier in the session</a:t>
            </a:r>
          </a:p>
        </p:txBody>
      </p:sp>
      <p:sp>
        <p:nvSpPr>
          <p:cNvPr id="80" name="Strip80"/>
          <p:cNvSpPr>
            <a:spLocks noGrp="1"/>
          </p:cNvSpPr>
          <p:nvPr/>
        </p:nvSpPr>
        <p:spPr>
          <a:xfrm>
            <a:off x="279400" y="4136735"/>
            <a:ext cx="3911600" cy="812800"/>
          </a:xfrm>
          <a:prstGeom prst="roundRect">
            <a:avLst>
              <a:gd name="adj" fmla="val 15000"/>
            </a:avLst>
          </a:prstGeom>
          <a:solidFill>
            <a:srgbClr val="F6BD00"/>
          </a:solidFill>
          <a:ln>
            <a:noFill/>
          </a:ln>
        </p:spPr>
        <p:txBody>
          <a:bodyPr/>
          <a:lstStyle/>
          <a:p>
            <a:endParaRPr lang="en-US" dirty="0"/>
          </a:p>
        </p:txBody>
      </p:sp>
      <p:sp>
        <p:nvSpPr>
          <p:cNvPr id="81" name="Acc80"/>
          <p:cNvSpPr>
            <a:spLocks noGrp="1"/>
          </p:cNvSpPr>
          <p:nvPr/>
        </p:nvSpPr>
        <p:spPr>
          <a:xfrm>
            <a:off x="279400" y="4136735"/>
            <a:ext cx="127000" cy="812800"/>
          </a:xfrm>
          <a:prstGeom prst="rect">
            <a:avLst/>
          </a:prstGeom>
          <a:solidFill>
            <a:srgbClr val="B38900"/>
          </a:solidFill>
          <a:ln>
            <a:noFill/>
          </a:ln>
        </p:spPr>
        <p:txBody>
          <a:bodyPr/>
          <a:lstStyle/>
          <a:p>
            <a:endParaRPr lang="en-US" dirty="0"/>
          </a:p>
        </p:txBody>
      </p:sp>
      <p:sp>
        <p:nvSpPr>
          <p:cNvPr id="82" name="Txt80"/>
          <p:cNvSpPr txBox="1">
            <a:spLocks noGrp="1"/>
          </p:cNvSpPr>
          <p:nvPr/>
        </p:nvSpPr>
        <p:spPr>
          <a:xfrm>
            <a:off x="457200" y="4301835"/>
            <a:ext cx="3683000" cy="711200"/>
          </a:xfrm>
          <a:prstGeom prst="rect">
            <a:avLst/>
          </a:prstGeom>
          <a:noFill/>
          <a:ln>
            <a:noFill/>
          </a:ln>
        </p:spPr>
        <p:txBody>
          <a:bodyPr wrap="square" lIns="57150" tIns="0" rIns="57150" bIns="0" anchor="ctr"/>
          <a:lstStyle/>
          <a:p>
            <a:pPr algn="l">
              <a:buNone/>
            </a:pPr>
            <a:r>
              <a:rPr lang="en-US" sz="1500" b="1" dirty="0">
                <a:solidFill>
                  <a:srgbClr val="FFFFFF"/>
                </a:solidFill>
              </a:rPr>
              <a:t>Your Prompt</a:t>
            </a:r>
          </a:p>
          <a:p>
            <a:pPr algn="l">
              <a:buNone/>
            </a:pPr>
            <a:r>
              <a:rPr lang="en-US" sz="1200" dirty="0">
                <a:solidFill>
                  <a:srgbClr val="EEEEEE"/>
                </a:solidFill>
              </a:rPr>
              <a:t>What you are asking right now</a:t>
            </a:r>
          </a:p>
        </p:txBody>
      </p:sp>
      <p:sp>
        <p:nvSpPr>
          <p:cNvPr id="91" name="Plus1"/>
          <p:cNvSpPr txBox="1">
            <a:spLocks noGrp="1"/>
          </p:cNvSpPr>
          <p:nvPr/>
        </p:nvSpPr>
        <p:spPr>
          <a:xfrm>
            <a:off x="1930400" y="2968335"/>
            <a:ext cx="304800" cy="177800"/>
          </a:xfrm>
          <a:prstGeom prst="rect">
            <a:avLst/>
          </a:prstGeom>
          <a:noFill/>
          <a:ln>
            <a:noFill/>
          </a:ln>
        </p:spPr>
        <p:txBody>
          <a:bodyPr wrap="square" lIns="57150" tIns="0" rIns="57150" bIns="0" anchor="ctr"/>
          <a:lstStyle/>
          <a:p>
            <a:pPr algn="ctr">
              <a:buNone/>
            </a:pPr>
            <a:r>
              <a:rPr lang="en-US" sz="1600" b="1" dirty="0">
                <a:solidFill>
                  <a:srgbClr val="888888"/>
                </a:solidFill>
              </a:rPr>
              <a:t>+</a:t>
            </a:r>
          </a:p>
        </p:txBody>
      </p:sp>
      <p:sp>
        <p:nvSpPr>
          <p:cNvPr id="92" name="Plus2"/>
          <p:cNvSpPr txBox="1">
            <a:spLocks noGrp="1"/>
          </p:cNvSpPr>
          <p:nvPr/>
        </p:nvSpPr>
        <p:spPr>
          <a:xfrm>
            <a:off x="1930400" y="3984335"/>
            <a:ext cx="304800" cy="177800"/>
          </a:xfrm>
          <a:prstGeom prst="rect">
            <a:avLst/>
          </a:prstGeom>
          <a:noFill/>
          <a:ln>
            <a:noFill/>
          </a:ln>
        </p:spPr>
        <p:txBody>
          <a:bodyPr wrap="square" lIns="57150" tIns="0" rIns="57150" bIns="0" anchor="ctr"/>
          <a:lstStyle/>
          <a:p>
            <a:pPr algn="ctr">
              <a:buNone/>
            </a:pPr>
            <a:r>
              <a:rPr lang="en-US" sz="1600" b="1" dirty="0">
                <a:solidFill>
                  <a:srgbClr val="888888"/>
                </a:solidFill>
              </a:rPr>
              <a:t>+</a:t>
            </a:r>
          </a:p>
        </p:txBody>
      </p:sp>
      <p:sp>
        <p:nvSpPr>
          <p:cNvPr id="95" name="Arr1"/>
          <p:cNvSpPr>
            <a:spLocks noGrp="1"/>
          </p:cNvSpPr>
          <p:nvPr/>
        </p:nvSpPr>
        <p:spPr>
          <a:xfrm>
            <a:off x="4229100" y="3616035"/>
            <a:ext cx="609600" cy="228600"/>
          </a:xfrm>
          <a:prstGeom prst="notchedRightArrow">
            <a:avLst/>
          </a:prstGeom>
          <a:solidFill>
            <a:srgbClr val="888888"/>
          </a:solidFill>
          <a:ln>
            <a:noFill/>
          </a:ln>
        </p:spPr>
        <p:txBody>
          <a:bodyPr/>
          <a:lstStyle/>
          <a:p>
            <a:endParaRPr lang="en-US" dirty="0"/>
          </a:p>
        </p:txBody>
      </p:sp>
      <p:sp>
        <p:nvSpPr>
          <p:cNvPr id="100" name="CtxBox"/>
          <p:cNvSpPr>
            <a:spLocks noGrp="1"/>
          </p:cNvSpPr>
          <p:nvPr/>
        </p:nvSpPr>
        <p:spPr>
          <a:xfrm>
            <a:off x="4851400" y="2066635"/>
            <a:ext cx="2489200" cy="2882900"/>
          </a:xfrm>
          <a:prstGeom prst="roundRect">
            <a:avLst>
              <a:gd name="adj" fmla="val 10000"/>
            </a:avLst>
          </a:prstGeom>
          <a:solidFill>
            <a:srgbClr val="1A1A2E"/>
          </a:solidFill>
          <a:ln w="28000">
            <a:solidFill>
              <a:srgbClr val="F66900"/>
            </a:solidFill>
          </a:ln>
        </p:spPr>
        <p:txBody>
          <a:bodyPr/>
          <a:lstStyle/>
          <a:p>
            <a:endParaRPr lang="en-US" dirty="0"/>
          </a:p>
        </p:txBody>
      </p:sp>
      <p:sp>
        <p:nvSpPr>
          <p:cNvPr id="101" name="CtxHdr"/>
          <p:cNvSpPr>
            <a:spLocks noGrp="1"/>
          </p:cNvSpPr>
          <p:nvPr/>
        </p:nvSpPr>
        <p:spPr>
          <a:xfrm>
            <a:off x="4851400" y="2066635"/>
            <a:ext cx="2489200" cy="457200"/>
          </a:xfrm>
          <a:prstGeom prst="rect">
            <a:avLst/>
          </a:prstGeom>
          <a:solidFill>
            <a:srgbClr val="F66900"/>
          </a:solidFill>
          <a:ln>
            <a:noFill/>
          </a:ln>
        </p:spPr>
        <p:txBody>
          <a:bodyPr/>
          <a:lstStyle/>
          <a:p>
            <a:endParaRPr lang="en-US" dirty="0"/>
          </a:p>
        </p:txBody>
      </p:sp>
      <p:sp>
        <p:nvSpPr>
          <p:cNvPr id="102" name="CtxHdrTxt"/>
          <p:cNvSpPr txBox="1">
            <a:spLocks noGrp="1"/>
          </p:cNvSpPr>
          <p:nvPr/>
        </p:nvSpPr>
        <p:spPr>
          <a:xfrm>
            <a:off x="4851400" y="2066635"/>
            <a:ext cx="2489200" cy="457200"/>
          </a:xfrm>
          <a:prstGeom prst="rect">
            <a:avLst/>
          </a:prstGeom>
          <a:noFill/>
          <a:ln>
            <a:noFill/>
          </a:ln>
        </p:spPr>
        <p:txBody>
          <a:bodyPr wrap="square" lIns="57150" tIns="0" rIns="57150" bIns="0" anchor="ctr"/>
          <a:lstStyle/>
          <a:p>
            <a:pPr algn="ctr">
              <a:buNone/>
            </a:pPr>
            <a:r>
              <a:rPr lang="en-US" sz="1200" b="1" dirty="0">
                <a:solidFill>
                  <a:srgbClr val="FFFFFF"/>
                </a:solidFill>
              </a:rPr>
              <a:t>CONTEXT WINDOW</a:t>
            </a:r>
          </a:p>
        </p:txBody>
      </p:sp>
      <p:sp>
        <p:nvSpPr>
          <p:cNvPr id="110" name="Mini110"/>
          <p:cNvSpPr>
            <a:spLocks noGrp="1"/>
          </p:cNvSpPr>
          <p:nvPr/>
        </p:nvSpPr>
        <p:spPr>
          <a:xfrm>
            <a:off x="5003800" y="2804390"/>
            <a:ext cx="2184400" cy="508000"/>
          </a:xfrm>
          <a:prstGeom prst="roundRect">
            <a:avLst>
              <a:gd name="adj" fmla="val 20000"/>
            </a:avLst>
          </a:prstGeom>
          <a:solidFill>
            <a:srgbClr val="2A2A4E"/>
          </a:solidFill>
          <a:ln w="14000">
            <a:solidFill>
              <a:srgbClr val="009CBD"/>
            </a:solidFill>
          </a:ln>
        </p:spPr>
        <p:txBody>
          <a:bodyPr/>
          <a:lstStyle/>
          <a:p>
            <a:endParaRPr lang="en-US" dirty="0"/>
          </a:p>
        </p:txBody>
      </p:sp>
      <p:sp>
        <p:nvSpPr>
          <p:cNvPr id="111" name="MiniTxt110"/>
          <p:cNvSpPr txBox="1">
            <a:spLocks noGrp="1"/>
          </p:cNvSpPr>
          <p:nvPr/>
        </p:nvSpPr>
        <p:spPr>
          <a:xfrm>
            <a:off x="5003800" y="2804389"/>
            <a:ext cx="2184400" cy="508000"/>
          </a:xfrm>
          <a:prstGeom prst="rect">
            <a:avLst/>
          </a:prstGeom>
          <a:noFill/>
          <a:ln>
            <a:noFill/>
          </a:ln>
        </p:spPr>
        <p:txBody>
          <a:bodyPr wrap="square" lIns="57150" tIns="0" rIns="57150" bIns="0" anchor="ctr"/>
          <a:lstStyle/>
          <a:p>
            <a:pPr algn="ctr">
              <a:buNone/>
            </a:pPr>
            <a:r>
              <a:rPr lang="en-US" sz="1300" b="1" dirty="0">
                <a:solidFill>
                  <a:srgbClr val="009CBD"/>
                </a:solidFill>
              </a:rPr>
              <a:t>Project Data</a:t>
            </a:r>
          </a:p>
        </p:txBody>
      </p:sp>
      <p:sp>
        <p:nvSpPr>
          <p:cNvPr id="113" name="Mini113"/>
          <p:cNvSpPr>
            <a:spLocks noGrp="1"/>
          </p:cNvSpPr>
          <p:nvPr/>
        </p:nvSpPr>
        <p:spPr>
          <a:xfrm>
            <a:off x="5003800" y="3413990"/>
            <a:ext cx="2184400" cy="508000"/>
          </a:xfrm>
          <a:prstGeom prst="roundRect">
            <a:avLst>
              <a:gd name="adj" fmla="val 20000"/>
            </a:avLst>
          </a:prstGeom>
          <a:solidFill>
            <a:srgbClr val="2A2A4E"/>
          </a:solidFill>
          <a:ln w="14000">
            <a:solidFill>
              <a:srgbClr val="F66900"/>
            </a:solidFill>
          </a:ln>
        </p:spPr>
        <p:txBody>
          <a:bodyPr/>
          <a:lstStyle/>
          <a:p>
            <a:endParaRPr lang="en-US" dirty="0"/>
          </a:p>
        </p:txBody>
      </p:sp>
      <p:sp>
        <p:nvSpPr>
          <p:cNvPr id="114" name="MiniTxt113"/>
          <p:cNvSpPr txBox="1">
            <a:spLocks noGrp="1"/>
          </p:cNvSpPr>
          <p:nvPr/>
        </p:nvSpPr>
        <p:spPr>
          <a:xfrm>
            <a:off x="5003800" y="3413989"/>
            <a:ext cx="2184400" cy="508000"/>
          </a:xfrm>
          <a:prstGeom prst="rect">
            <a:avLst/>
          </a:prstGeom>
          <a:noFill/>
          <a:ln>
            <a:noFill/>
          </a:ln>
        </p:spPr>
        <p:txBody>
          <a:bodyPr wrap="square" lIns="57150" tIns="0" rIns="57150" bIns="0" anchor="ctr"/>
          <a:lstStyle/>
          <a:p>
            <a:pPr algn="ctr">
              <a:buNone/>
            </a:pPr>
            <a:r>
              <a:rPr lang="en-US" sz="1300" b="1" dirty="0">
                <a:solidFill>
                  <a:srgbClr val="F66900"/>
                </a:solidFill>
              </a:rPr>
              <a:t>Prior Chat</a:t>
            </a:r>
          </a:p>
        </p:txBody>
      </p:sp>
      <p:sp>
        <p:nvSpPr>
          <p:cNvPr id="116" name="Mini116"/>
          <p:cNvSpPr>
            <a:spLocks noGrp="1"/>
          </p:cNvSpPr>
          <p:nvPr/>
        </p:nvSpPr>
        <p:spPr>
          <a:xfrm>
            <a:off x="5003800" y="4023590"/>
            <a:ext cx="2184400" cy="508000"/>
          </a:xfrm>
          <a:prstGeom prst="roundRect">
            <a:avLst>
              <a:gd name="adj" fmla="val 20000"/>
            </a:avLst>
          </a:prstGeom>
          <a:solidFill>
            <a:srgbClr val="2A2A4E"/>
          </a:solidFill>
          <a:ln w="14000">
            <a:solidFill>
              <a:srgbClr val="F6BD00"/>
            </a:solidFill>
          </a:ln>
        </p:spPr>
        <p:txBody>
          <a:bodyPr/>
          <a:lstStyle/>
          <a:p>
            <a:endParaRPr lang="en-US" dirty="0"/>
          </a:p>
        </p:txBody>
      </p:sp>
      <p:sp>
        <p:nvSpPr>
          <p:cNvPr id="117" name="MiniTxt116"/>
          <p:cNvSpPr txBox="1">
            <a:spLocks noGrp="1"/>
          </p:cNvSpPr>
          <p:nvPr/>
        </p:nvSpPr>
        <p:spPr>
          <a:xfrm>
            <a:off x="5003800" y="4023589"/>
            <a:ext cx="2184400" cy="508000"/>
          </a:xfrm>
          <a:prstGeom prst="rect">
            <a:avLst/>
          </a:prstGeom>
          <a:noFill/>
          <a:ln>
            <a:noFill/>
          </a:ln>
        </p:spPr>
        <p:txBody>
          <a:bodyPr wrap="square" lIns="57150" tIns="0" rIns="57150" bIns="0" anchor="ctr"/>
          <a:lstStyle/>
          <a:p>
            <a:pPr algn="ctr">
              <a:buNone/>
            </a:pPr>
            <a:r>
              <a:rPr lang="en-US" sz="1300" b="1" dirty="0">
                <a:solidFill>
                  <a:srgbClr val="F6BD00"/>
                </a:solidFill>
              </a:rPr>
              <a:t>Your Prompt</a:t>
            </a:r>
          </a:p>
        </p:txBody>
      </p:sp>
      <p:sp>
        <p:nvSpPr>
          <p:cNvPr id="125" name="Arr2"/>
          <p:cNvSpPr>
            <a:spLocks noGrp="1"/>
          </p:cNvSpPr>
          <p:nvPr/>
        </p:nvSpPr>
        <p:spPr>
          <a:xfrm>
            <a:off x="7366000" y="3616035"/>
            <a:ext cx="609600" cy="228600"/>
          </a:xfrm>
          <a:prstGeom prst="notchedRightArrow">
            <a:avLst/>
          </a:prstGeom>
          <a:solidFill>
            <a:srgbClr val="F66900"/>
          </a:solidFill>
          <a:ln>
            <a:noFill/>
          </a:ln>
        </p:spPr>
        <p:txBody>
          <a:bodyPr/>
          <a:lstStyle/>
          <a:p>
            <a:endParaRPr lang="en-US" dirty="0"/>
          </a:p>
        </p:txBody>
      </p:sp>
      <p:sp>
        <p:nvSpPr>
          <p:cNvPr id="130" name="ClaudeCircle"/>
          <p:cNvSpPr>
            <a:spLocks noGrp="1"/>
          </p:cNvSpPr>
          <p:nvPr/>
        </p:nvSpPr>
        <p:spPr>
          <a:xfrm>
            <a:off x="7975600" y="2955635"/>
            <a:ext cx="1549400" cy="1549400"/>
          </a:xfrm>
          <a:prstGeom prst="ellipse">
            <a:avLst/>
          </a:prstGeom>
          <a:solidFill>
            <a:srgbClr val="1A1A2E"/>
          </a:solidFill>
          <a:ln w="28000">
            <a:solidFill>
              <a:srgbClr val="F66900"/>
            </a:solidFill>
          </a:ln>
        </p:spPr>
        <p:txBody>
          <a:bodyPr/>
          <a:lstStyle/>
          <a:p>
            <a:endParaRPr lang="en-US" dirty="0"/>
          </a:p>
        </p:txBody>
      </p:sp>
      <p:sp>
        <p:nvSpPr>
          <p:cNvPr id="131" name="ClaudeTxt"/>
          <p:cNvSpPr txBox="1">
            <a:spLocks noGrp="1"/>
          </p:cNvSpPr>
          <p:nvPr/>
        </p:nvSpPr>
        <p:spPr>
          <a:xfrm>
            <a:off x="7975600" y="3057235"/>
            <a:ext cx="1549400" cy="1346200"/>
          </a:xfrm>
          <a:prstGeom prst="rect">
            <a:avLst/>
          </a:prstGeom>
          <a:noFill/>
          <a:ln>
            <a:noFill/>
          </a:ln>
        </p:spPr>
        <p:txBody>
          <a:bodyPr wrap="square" lIns="57150" tIns="0" rIns="57150" bIns="0" anchor="ctr"/>
          <a:lstStyle/>
          <a:p>
            <a:pPr algn="ctr">
              <a:buNone/>
            </a:pPr>
            <a:r>
              <a:rPr lang="en-US" sz="1700" b="1" dirty="0">
                <a:solidFill>
                  <a:srgbClr val="F66900"/>
                </a:solidFill>
              </a:rPr>
              <a:t>Claude</a:t>
            </a:r>
          </a:p>
          <a:p>
            <a:pPr algn="ctr">
              <a:buNone/>
            </a:pPr>
            <a:r>
              <a:rPr lang="en-US" sz="1100" dirty="0">
                <a:solidFill>
                  <a:srgbClr val="AAAAAA"/>
                </a:solidFill>
              </a:rPr>
              <a:t>Code</a:t>
            </a:r>
          </a:p>
        </p:txBody>
      </p:sp>
      <p:sp>
        <p:nvSpPr>
          <p:cNvPr id="135" name="Arr3"/>
          <p:cNvSpPr>
            <a:spLocks noGrp="1"/>
          </p:cNvSpPr>
          <p:nvPr/>
        </p:nvSpPr>
        <p:spPr>
          <a:xfrm>
            <a:off x="9563100" y="3616035"/>
            <a:ext cx="482600" cy="228600"/>
          </a:xfrm>
          <a:prstGeom prst="notchedRightArrow">
            <a:avLst/>
          </a:prstGeom>
          <a:solidFill>
            <a:srgbClr val="C4D500"/>
          </a:solidFill>
          <a:ln>
            <a:noFill/>
          </a:ln>
        </p:spPr>
        <p:txBody>
          <a:bodyPr/>
          <a:lstStyle/>
          <a:p>
            <a:endParaRPr lang="en-US" dirty="0"/>
          </a:p>
        </p:txBody>
      </p:sp>
      <p:sp>
        <p:nvSpPr>
          <p:cNvPr id="140" name="ResponseBox"/>
          <p:cNvSpPr>
            <a:spLocks noGrp="1"/>
          </p:cNvSpPr>
          <p:nvPr/>
        </p:nvSpPr>
        <p:spPr>
          <a:xfrm>
            <a:off x="10096500" y="3070758"/>
            <a:ext cx="1905000" cy="1295400"/>
          </a:xfrm>
          <a:prstGeom prst="roundRect">
            <a:avLst>
              <a:gd name="adj" fmla="val 14000"/>
            </a:avLst>
          </a:prstGeom>
          <a:solidFill>
            <a:srgbClr val="EFF5C2"/>
          </a:solidFill>
          <a:ln w="19050">
            <a:solidFill>
              <a:srgbClr val="C4D500"/>
            </a:solidFill>
          </a:ln>
        </p:spPr>
        <p:txBody>
          <a:bodyPr/>
          <a:lstStyle/>
          <a:p>
            <a:endParaRPr lang="en-US" dirty="0"/>
          </a:p>
        </p:txBody>
      </p:sp>
      <p:sp>
        <p:nvSpPr>
          <p:cNvPr id="141" name="ResponseTxt"/>
          <p:cNvSpPr txBox="1">
            <a:spLocks noGrp="1"/>
          </p:cNvSpPr>
          <p:nvPr/>
        </p:nvSpPr>
        <p:spPr>
          <a:xfrm>
            <a:off x="10096500" y="3058883"/>
            <a:ext cx="1905000" cy="1295400"/>
          </a:xfrm>
          <a:prstGeom prst="rect">
            <a:avLst/>
          </a:prstGeom>
          <a:noFill/>
          <a:ln>
            <a:noFill/>
          </a:ln>
        </p:spPr>
        <p:txBody>
          <a:bodyPr wrap="square" lIns="57150" tIns="0" rIns="57150" bIns="0" anchor="ctr"/>
          <a:lstStyle/>
          <a:p>
            <a:pPr algn="ctr">
              <a:buNone/>
            </a:pPr>
            <a:r>
              <a:rPr lang="en-US" sz="1500" b="1" dirty="0">
                <a:solidFill>
                  <a:srgbClr val="4A5500"/>
                </a:solidFill>
              </a:rPr>
              <a:t>Smart</a:t>
            </a:r>
          </a:p>
          <a:p>
            <a:pPr algn="ctr">
              <a:buNone/>
            </a:pPr>
            <a:r>
              <a:rPr lang="en-US" sz="1500" b="1" dirty="0">
                <a:solidFill>
                  <a:srgbClr val="4A5500"/>
                </a:solidFill>
              </a:rPr>
              <a:t>Response</a:t>
            </a:r>
          </a:p>
          <a:p>
            <a:pPr algn="ctr">
              <a:buNone/>
            </a:pPr>
            <a:r>
              <a:rPr lang="en-US" sz="1100" dirty="0">
                <a:solidFill>
                  <a:srgbClr val="6A7800"/>
                </a:solidFill>
              </a:rPr>
              <a:t>with full context</a:t>
            </a:r>
          </a:p>
        </p:txBody>
      </p:sp>
      <p:sp>
        <p:nvSpPr>
          <p:cNvPr id="150" name="InsightBar"/>
          <p:cNvSpPr>
            <a:spLocks noGrp="1"/>
          </p:cNvSpPr>
          <p:nvPr/>
        </p:nvSpPr>
        <p:spPr>
          <a:xfrm>
            <a:off x="279400" y="5410200"/>
            <a:ext cx="11734800" cy="584200"/>
          </a:xfrm>
          <a:prstGeom prst="roundRect">
            <a:avLst>
              <a:gd name="adj" fmla="val 10000"/>
            </a:avLst>
          </a:prstGeom>
          <a:solidFill>
            <a:srgbClr val="1A1A2E"/>
          </a:solidFill>
          <a:ln>
            <a:noFill/>
          </a:ln>
        </p:spPr>
        <p:txBody>
          <a:bodyPr/>
          <a:lstStyle/>
          <a:p>
            <a:endParaRPr lang="en-US" dirty="0"/>
          </a:p>
        </p:txBody>
      </p:sp>
      <p:sp>
        <p:nvSpPr>
          <p:cNvPr id="151" name="InsightTxt"/>
          <p:cNvSpPr txBox="1">
            <a:spLocks noGrp="1"/>
          </p:cNvSpPr>
          <p:nvPr/>
        </p:nvSpPr>
        <p:spPr>
          <a:xfrm>
            <a:off x="279400" y="5410200"/>
            <a:ext cx="11734800" cy="584200"/>
          </a:xfrm>
          <a:prstGeom prst="rect">
            <a:avLst/>
          </a:prstGeom>
          <a:noFill/>
          <a:ln>
            <a:noFill/>
          </a:ln>
        </p:spPr>
        <p:txBody>
          <a:bodyPr wrap="square" lIns="57150" tIns="0" rIns="57150" bIns="0" anchor="ctr"/>
          <a:lstStyle/>
          <a:p>
            <a:pPr algn="ctr">
              <a:buNone/>
            </a:pPr>
            <a:r>
              <a:rPr lang="en-US" sz="1300" dirty="0">
                <a:solidFill>
                  <a:srgbClr val="AAAAAA"/>
                </a:solidFill>
              </a:rPr>
              <a:t>Context is not just your message — </a:t>
            </a:r>
            <a:r>
              <a:rPr lang="en-US" sz="1300" b="1" dirty="0">
                <a:solidFill>
                  <a:srgbClr val="F66900"/>
                </a:solidFill>
              </a:rPr>
              <a:t>it is everything Claude knows about your work at that moment.</a:t>
            </a:r>
          </a:p>
        </p:txBody>
      </p:sp>
      <p:pic>
        <p:nvPicPr>
          <p:cNvPr id="152" name="Graphic 152" descr="Pencil icon for Your Prompt strip"/>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0200" y="4174835"/>
            <a:ext cx="330200" cy="330200"/>
          </a:xfrm>
          <a:prstGeom prst="rect">
            <a:avLst/>
          </a:prstGeom>
        </p:spPr>
      </p:pic>
      <p:pic>
        <p:nvPicPr>
          <p:cNvPr id="153" name="Graphic 153" descr="Clock icon for Prior Conversation strip"/>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200" y="3158835"/>
            <a:ext cx="330200" cy="330200"/>
          </a:xfrm>
          <a:prstGeom prst="rect">
            <a:avLst/>
          </a:prstGeom>
        </p:spPr>
      </p:pic>
      <p:pic>
        <p:nvPicPr>
          <p:cNvPr id="154" name="Graphic 154" descr="Folder icon for Project Data stri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0200" y="2142835"/>
            <a:ext cx="330200" cy="330200"/>
          </a:xfrm>
          <a:prstGeom prst="rect">
            <a:avLst/>
          </a:prstGeom>
        </p:spPr>
      </p:pic>
    </p:spTree>
    <p:extLst>
      <p:ext uri="{BB962C8B-B14F-4D97-AF65-F5344CB8AC3E}">
        <p14:creationId xmlns:p14="http://schemas.microsoft.com/office/powerpoint/2010/main" val="67260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B3AABC-BE5A-061A-E56D-6BC6FE16070A}"/>
              </a:ext>
            </a:extLst>
          </p:cNvPr>
          <p:cNvSpPr>
            <a:spLocks noGrp="1"/>
          </p:cNvSpPr>
          <p:nvPr>
            <p:ph type="body" sz="quarter" idx="15"/>
          </p:nvPr>
        </p:nvSpPr>
        <p:spPr/>
        <p:txBody>
          <a:bodyPr/>
          <a:lstStyle/>
          <a:p>
            <a:r>
              <a:rPr lang="en-US" dirty="0"/>
              <a:t>Create a class artifact to share.</a:t>
            </a:r>
          </a:p>
          <a:p>
            <a:r>
              <a:rPr lang="en-US" dirty="0"/>
              <a:t>Prompt 2:</a:t>
            </a:r>
          </a:p>
          <a:p>
            <a:pPr lvl="1"/>
            <a:r>
              <a:rPr lang="en-US" sz="2000" i="1" dirty="0"/>
              <a:t>“I’m a teacher and I want to produce an active demo as an HTML file for my dynamics and vibrations class. I would like this file to show how a spring mass damper acts after an impulse. Let’s assume that this is a horizontal system where damping is modeled as friction. I want to show the general 2</a:t>
            </a:r>
            <a:r>
              <a:rPr lang="en-US" sz="2000" i="1" baseline="30000" dirty="0"/>
              <a:t>nd</a:t>
            </a:r>
            <a:r>
              <a:rPr lang="en-US" sz="2000" i="1" dirty="0"/>
              <a:t> order transfer function relating force to distance at the top, then maybe sliders to adjust the coefficients, then the specific transfer function. Below that should be two plots, one that shows the time constant and one that shows the time domain response. Pick appropriate axis and scales. I’ve included a calculations document for reference </a:t>
            </a:r>
            <a:br>
              <a:rPr lang="en-US" sz="2000" i="1" dirty="0"/>
            </a:br>
            <a:r>
              <a:rPr lang="en-US" sz="2000" i="1" dirty="0"/>
              <a:t>I want the aesthetic to mimic an early 2000’s webpage for a vintage feel, I’ve included a style document that a UI/UX expert can use to build the page.” </a:t>
            </a:r>
          </a:p>
          <a:p>
            <a:pPr lvl="1"/>
            <a:endParaRPr lang="en-US" dirty="0"/>
          </a:p>
        </p:txBody>
      </p:sp>
      <p:sp>
        <p:nvSpPr>
          <p:cNvPr id="4" name="Title 3">
            <a:extLst>
              <a:ext uri="{FF2B5EF4-FFF2-40B4-BE49-F238E27FC236}">
                <a16:creationId xmlns:a16="http://schemas.microsoft.com/office/drawing/2014/main" id="{E4A39CBA-AAAB-45D8-2231-998CDD7641B3}"/>
              </a:ext>
            </a:extLst>
          </p:cNvPr>
          <p:cNvSpPr>
            <a:spLocks noGrp="1"/>
          </p:cNvSpPr>
          <p:nvPr>
            <p:ph type="title"/>
          </p:nvPr>
        </p:nvSpPr>
        <p:spPr/>
        <p:txBody>
          <a:bodyPr/>
          <a:lstStyle/>
          <a:p>
            <a:r>
              <a:rPr lang="en-US" dirty="0"/>
              <a:t>Project 2 </a:t>
            </a:r>
          </a:p>
        </p:txBody>
      </p:sp>
      <p:sp>
        <p:nvSpPr>
          <p:cNvPr id="7" name="TextBox 6">
            <a:extLst>
              <a:ext uri="{FF2B5EF4-FFF2-40B4-BE49-F238E27FC236}">
                <a16:creationId xmlns:a16="http://schemas.microsoft.com/office/drawing/2014/main" id="{D7ABCF2A-6588-1B8A-0C4F-C934DF62C524}"/>
              </a:ext>
            </a:extLst>
          </p:cNvPr>
          <p:cNvSpPr txBox="1"/>
          <p:nvPr/>
        </p:nvSpPr>
        <p:spPr>
          <a:xfrm>
            <a:off x="971550" y="2935407"/>
            <a:ext cx="5906328" cy="300821"/>
          </a:xfrm>
          <a:prstGeom prst="rect">
            <a:avLst/>
          </a:prstGeom>
          <a:solidFill>
            <a:srgbClr val="00B0F0">
              <a:alpha val="10980"/>
            </a:srgbClr>
          </a:solid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0" name="TextBox 9">
            <a:extLst>
              <a:ext uri="{FF2B5EF4-FFF2-40B4-BE49-F238E27FC236}">
                <a16:creationId xmlns:a16="http://schemas.microsoft.com/office/drawing/2014/main" id="{8043E280-C639-9BA0-0EC2-B67C8EB454E7}"/>
              </a:ext>
            </a:extLst>
          </p:cNvPr>
          <p:cNvSpPr txBox="1"/>
          <p:nvPr/>
        </p:nvSpPr>
        <p:spPr>
          <a:xfrm>
            <a:off x="8301162" y="2935406"/>
            <a:ext cx="2919288" cy="300821"/>
          </a:xfrm>
          <a:prstGeom prst="rect">
            <a:avLst/>
          </a:prstGeom>
          <a:solidFill>
            <a:srgbClr val="00B0F0">
              <a:alpha val="10980"/>
            </a:srgbClr>
          </a:solid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1" name="TextBox 10">
            <a:extLst>
              <a:ext uri="{FF2B5EF4-FFF2-40B4-BE49-F238E27FC236}">
                <a16:creationId xmlns:a16="http://schemas.microsoft.com/office/drawing/2014/main" id="{CE4DDE93-49E4-FAD1-60F4-AA4CCF21363B}"/>
              </a:ext>
            </a:extLst>
          </p:cNvPr>
          <p:cNvSpPr txBox="1"/>
          <p:nvPr/>
        </p:nvSpPr>
        <p:spPr>
          <a:xfrm>
            <a:off x="971550" y="3236227"/>
            <a:ext cx="1811407" cy="300821"/>
          </a:xfrm>
          <a:prstGeom prst="rect">
            <a:avLst/>
          </a:prstGeom>
          <a:solidFill>
            <a:srgbClr val="00B0F0">
              <a:alpha val="10980"/>
            </a:srgbClr>
          </a:solid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2" name="TextBox 11">
            <a:extLst>
              <a:ext uri="{FF2B5EF4-FFF2-40B4-BE49-F238E27FC236}">
                <a16:creationId xmlns:a16="http://schemas.microsoft.com/office/drawing/2014/main" id="{A2295053-E9AA-3292-4B1F-4EE922E54DD1}"/>
              </a:ext>
            </a:extLst>
          </p:cNvPr>
          <p:cNvSpPr txBox="1"/>
          <p:nvPr/>
        </p:nvSpPr>
        <p:spPr>
          <a:xfrm>
            <a:off x="7235687" y="2935406"/>
            <a:ext cx="1065475" cy="30082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3" name="TextBox 12">
            <a:extLst>
              <a:ext uri="{FF2B5EF4-FFF2-40B4-BE49-F238E27FC236}">
                <a16:creationId xmlns:a16="http://schemas.microsoft.com/office/drawing/2014/main" id="{15018D28-627F-106A-9D62-E41BCDEFF00E}"/>
              </a:ext>
            </a:extLst>
          </p:cNvPr>
          <p:cNvSpPr txBox="1"/>
          <p:nvPr/>
        </p:nvSpPr>
        <p:spPr>
          <a:xfrm>
            <a:off x="4136004" y="3236227"/>
            <a:ext cx="7385436" cy="30082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C325820F-E93F-29E4-4ED6-95B518C077C1}"/>
              </a:ext>
            </a:extLst>
          </p:cNvPr>
          <p:cNvSpPr txBox="1"/>
          <p:nvPr/>
        </p:nvSpPr>
        <p:spPr>
          <a:xfrm>
            <a:off x="971551" y="3537048"/>
            <a:ext cx="9293584" cy="30082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5" name="TextBox 14">
            <a:extLst>
              <a:ext uri="{FF2B5EF4-FFF2-40B4-BE49-F238E27FC236}">
                <a16:creationId xmlns:a16="http://schemas.microsoft.com/office/drawing/2014/main" id="{B438E12B-C8AA-A8B8-F948-9898B592F8D1}"/>
              </a:ext>
            </a:extLst>
          </p:cNvPr>
          <p:cNvSpPr txBox="1"/>
          <p:nvPr/>
        </p:nvSpPr>
        <p:spPr>
          <a:xfrm>
            <a:off x="971550" y="3837867"/>
            <a:ext cx="10438572" cy="89036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7" name="TextBox 16">
            <a:extLst>
              <a:ext uri="{FF2B5EF4-FFF2-40B4-BE49-F238E27FC236}">
                <a16:creationId xmlns:a16="http://schemas.microsoft.com/office/drawing/2014/main" id="{741A3CC7-A1BA-E1B4-E214-30743A88F564}"/>
              </a:ext>
            </a:extLst>
          </p:cNvPr>
          <p:cNvSpPr txBox="1"/>
          <p:nvPr/>
        </p:nvSpPr>
        <p:spPr>
          <a:xfrm>
            <a:off x="4136004" y="4769911"/>
            <a:ext cx="5826980" cy="300821"/>
          </a:xfrm>
          <a:prstGeom prst="rect">
            <a:avLst/>
          </a:prstGeom>
          <a:solidFill>
            <a:srgbClr val="FFA461">
              <a:alpha val="18824"/>
            </a:srgbClr>
          </a:solidFill>
          <a:ln w="28575"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B755FBD0-F652-1C35-CFFB-EE7364B6506B}"/>
              </a:ext>
            </a:extLst>
          </p:cNvPr>
          <p:cNvSpPr txBox="1"/>
          <p:nvPr/>
        </p:nvSpPr>
        <p:spPr>
          <a:xfrm>
            <a:off x="9098943" y="5070732"/>
            <a:ext cx="2311179" cy="300821"/>
          </a:xfrm>
          <a:prstGeom prst="rect">
            <a:avLst/>
          </a:prstGeom>
          <a:solidFill>
            <a:srgbClr val="FFA461">
              <a:alpha val="18824"/>
            </a:srgbClr>
          </a:solidFill>
          <a:ln w="28575"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19" name="TextBox 18">
            <a:extLst>
              <a:ext uri="{FF2B5EF4-FFF2-40B4-BE49-F238E27FC236}">
                <a16:creationId xmlns:a16="http://schemas.microsoft.com/office/drawing/2014/main" id="{BDCF05E7-A4F5-FA9B-42AC-8D9DA5E43F58}"/>
              </a:ext>
            </a:extLst>
          </p:cNvPr>
          <p:cNvSpPr txBox="1"/>
          <p:nvPr/>
        </p:nvSpPr>
        <p:spPr>
          <a:xfrm>
            <a:off x="971550" y="5381050"/>
            <a:ext cx="6343071" cy="300821"/>
          </a:xfrm>
          <a:prstGeom prst="rect">
            <a:avLst/>
          </a:prstGeom>
          <a:solidFill>
            <a:srgbClr val="FFA461">
              <a:alpha val="18824"/>
            </a:srgbClr>
          </a:solidFill>
          <a:ln w="28575"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20" name="TextBox 19">
            <a:extLst>
              <a:ext uri="{FF2B5EF4-FFF2-40B4-BE49-F238E27FC236}">
                <a16:creationId xmlns:a16="http://schemas.microsoft.com/office/drawing/2014/main" id="{DC59039E-E3E1-2D8A-5C5C-148B154F3C92}"/>
              </a:ext>
            </a:extLst>
          </p:cNvPr>
          <p:cNvSpPr txBox="1"/>
          <p:nvPr/>
        </p:nvSpPr>
        <p:spPr>
          <a:xfrm>
            <a:off x="971549" y="4766665"/>
            <a:ext cx="3140601" cy="30082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
        <p:nvSpPr>
          <p:cNvPr id="21" name="TextBox 20">
            <a:extLst>
              <a:ext uri="{FF2B5EF4-FFF2-40B4-BE49-F238E27FC236}">
                <a16:creationId xmlns:a16="http://schemas.microsoft.com/office/drawing/2014/main" id="{2795FD63-3EE0-B11A-54D2-01139A32C636}"/>
              </a:ext>
            </a:extLst>
          </p:cNvPr>
          <p:cNvSpPr txBox="1"/>
          <p:nvPr/>
        </p:nvSpPr>
        <p:spPr>
          <a:xfrm>
            <a:off x="963597" y="5082070"/>
            <a:ext cx="8135346" cy="300821"/>
          </a:xfrm>
          <a:prstGeom prst="rect">
            <a:avLst/>
          </a:prstGeom>
          <a:solidFill>
            <a:srgbClr val="B198DD">
              <a:alpha val="20392"/>
            </a:srgbClr>
          </a:solidFill>
          <a:ln w="28575" cap="flat" cmpd="sng" algn="ctr">
            <a:solidFill>
              <a:schemeClr val="accent5">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endParaRPr lang="en-US" dirty="0"/>
          </a:p>
        </p:txBody>
      </p:sp>
    </p:spTree>
    <p:extLst>
      <p:ext uri="{BB962C8B-B14F-4D97-AF65-F5344CB8AC3E}">
        <p14:creationId xmlns:p14="http://schemas.microsoft.com/office/powerpoint/2010/main" val="407703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DF4FE-6B3B-C010-C396-6B89F45909FB}"/>
              </a:ext>
            </a:extLst>
          </p:cNvPr>
          <p:cNvSpPr>
            <a:spLocks noGrp="1"/>
          </p:cNvSpPr>
          <p:nvPr>
            <p:ph type="title"/>
          </p:nvPr>
        </p:nvSpPr>
        <p:spPr/>
        <p:txBody>
          <a:bodyPr/>
          <a:lstStyle/>
          <a:p>
            <a:r>
              <a:rPr lang="en-US" dirty="0"/>
              <a:t>Claude Code: Agentic Workflow</a:t>
            </a:r>
          </a:p>
        </p:txBody>
      </p:sp>
      <p:sp>
        <p:nvSpPr>
          <p:cNvPr id="200" name="Arr12"/>
          <p:cNvSpPr>
            <a:spLocks noGrp="1"/>
          </p:cNvSpPr>
          <p:nvPr/>
        </p:nvSpPr>
        <p:spPr>
          <a:xfrm>
            <a:off x="3837378" y="3994892"/>
            <a:ext cx="698334" cy="278988"/>
          </a:xfrm>
          <a:prstGeom prst="notchedRightArrow">
            <a:avLst/>
          </a:prstGeom>
          <a:solidFill>
            <a:srgbClr val="BBBBBB"/>
          </a:solidFill>
          <a:ln>
            <a:noFill/>
          </a:ln>
        </p:spPr>
        <p:txBody>
          <a:bodyPr/>
          <a:lstStyle/>
          <a:p>
            <a:endParaRPr lang="en-US" dirty="0"/>
          </a:p>
        </p:txBody>
      </p:sp>
      <p:sp>
        <p:nvSpPr>
          <p:cNvPr id="201" name="Arr23"/>
          <p:cNvSpPr>
            <a:spLocks noGrp="1"/>
          </p:cNvSpPr>
          <p:nvPr/>
        </p:nvSpPr>
        <p:spPr>
          <a:xfrm>
            <a:off x="7888512" y="3994892"/>
            <a:ext cx="609434" cy="303976"/>
          </a:xfrm>
          <a:prstGeom prst="notchedRightArrow">
            <a:avLst/>
          </a:prstGeom>
          <a:solidFill>
            <a:srgbClr val="BBBBBB"/>
          </a:solidFill>
          <a:ln>
            <a:noFill/>
          </a:ln>
        </p:spPr>
        <p:txBody>
          <a:bodyPr/>
          <a:lstStyle/>
          <a:p>
            <a:endParaRPr lang="en-US" dirty="0"/>
          </a:p>
        </p:txBody>
      </p:sp>
      <p:sp>
        <p:nvSpPr>
          <p:cNvPr id="210" name="ColBg0"/>
          <p:cNvSpPr>
            <a:spLocks noGrp="1"/>
          </p:cNvSpPr>
          <p:nvPr/>
        </p:nvSpPr>
        <p:spPr>
          <a:xfrm>
            <a:off x="433778" y="2153392"/>
            <a:ext cx="3403600" cy="3759200"/>
          </a:xfrm>
          <a:prstGeom prst="roundRect">
            <a:avLst>
              <a:gd name="adj" fmla="val 8000"/>
            </a:avLst>
          </a:prstGeom>
          <a:solidFill>
            <a:srgbClr val="E6F6FA"/>
          </a:solidFill>
          <a:ln w="19050">
            <a:solidFill>
              <a:srgbClr val="009CBD"/>
            </a:solidFill>
          </a:ln>
        </p:spPr>
        <p:txBody>
          <a:bodyPr/>
          <a:lstStyle/>
          <a:p>
            <a:endParaRPr lang="en-US" dirty="0"/>
          </a:p>
        </p:txBody>
      </p:sp>
      <p:sp>
        <p:nvSpPr>
          <p:cNvPr id="211" name="Chip0"/>
          <p:cNvSpPr>
            <a:spLocks noGrp="1"/>
          </p:cNvSpPr>
          <p:nvPr/>
        </p:nvSpPr>
        <p:spPr>
          <a:xfrm>
            <a:off x="560778" y="2267692"/>
            <a:ext cx="787400" cy="254000"/>
          </a:xfrm>
          <a:prstGeom prst="roundRect">
            <a:avLst>
              <a:gd name="adj" fmla="val 50000"/>
            </a:avLst>
          </a:prstGeom>
          <a:solidFill>
            <a:srgbClr val="006E88"/>
          </a:solidFill>
          <a:ln>
            <a:noFill/>
          </a:ln>
        </p:spPr>
        <p:txBody>
          <a:bodyPr/>
          <a:lstStyle/>
          <a:p>
            <a:endParaRPr lang="en-US" dirty="0"/>
          </a:p>
        </p:txBody>
      </p:sp>
      <p:sp>
        <p:nvSpPr>
          <p:cNvPr id="212" name="ChipTxt0"/>
          <p:cNvSpPr txBox="1">
            <a:spLocks noGrp="1"/>
          </p:cNvSpPr>
          <p:nvPr/>
        </p:nvSpPr>
        <p:spPr>
          <a:xfrm>
            <a:off x="560778" y="2267692"/>
            <a:ext cx="787400" cy="254000"/>
          </a:xfrm>
          <a:prstGeom prst="rect">
            <a:avLst/>
          </a:prstGeom>
          <a:noFill/>
          <a:ln>
            <a:noFill/>
          </a:ln>
        </p:spPr>
        <p:txBody>
          <a:bodyPr wrap="square" lIns="57150" tIns="0" rIns="57150" bIns="0" anchor="ctr"/>
          <a:lstStyle/>
          <a:p>
            <a:pPr algn="ctr">
              <a:buNone/>
            </a:pPr>
            <a:r>
              <a:rPr lang="en-US" sz="900" b="1" dirty="0">
                <a:solidFill>
                  <a:srgbClr val="FFFFFF"/>
                </a:solidFill>
              </a:rPr>
              <a:t>01  PLAN</a:t>
            </a:r>
          </a:p>
        </p:txBody>
      </p:sp>
      <p:sp>
        <p:nvSpPr>
          <p:cNvPr id="213" name="ColTitle0"/>
          <p:cNvSpPr txBox="1">
            <a:spLocks noGrp="1"/>
          </p:cNvSpPr>
          <p:nvPr/>
        </p:nvSpPr>
        <p:spPr>
          <a:xfrm>
            <a:off x="560778" y="2534392"/>
            <a:ext cx="3149600" cy="254000"/>
          </a:xfrm>
          <a:prstGeom prst="rect">
            <a:avLst/>
          </a:prstGeom>
          <a:noFill/>
          <a:ln>
            <a:noFill/>
          </a:ln>
        </p:spPr>
        <p:txBody>
          <a:bodyPr wrap="square" lIns="57150" tIns="0" rIns="57150" bIns="0" anchor="ctr"/>
          <a:lstStyle/>
          <a:p>
            <a:pPr algn="l">
              <a:buNone/>
            </a:pPr>
            <a:r>
              <a:rPr lang="en-US" sz="1300" b="1" dirty="0">
                <a:solidFill>
                  <a:srgbClr val="006E88"/>
                </a:solidFill>
              </a:rPr>
              <a:t>Orchestrator Plans</a:t>
            </a:r>
          </a:p>
        </p:txBody>
      </p:sp>
      <p:sp>
        <p:nvSpPr>
          <p:cNvPr id="214" name="Div0"/>
          <p:cNvSpPr>
            <a:spLocks noGrp="1"/>
          </p:cNvSpPr>
          <p:nvPr/>
        </p:nvSpPr>
        <p:spPr>
          <a:xfrm>
            <a:off x="560778" y="2813792"/>
            <a:ext cx="3149600" cy="25400"/>
          </a:xfrm>
          <a:prstGeom prst="rect">
            <a:avLst/>
          </a:prstGeom>
          <a:solidFill>
            <a:srgbClr val="009CBD"/>
          </a:solidFill>
          <a:ln>
            <a:noFill/>
          </a:ln>
        </p:spPr>
        <p:txBody>
          <a:bodyPr/>
          <a:lstStyle/>
          <a:p>
            <a:endParaRPr lang="en-US" dirty="0"/>
          </a:p>
        </p:txBody>
      </p:sp>
      <p:sp>
        <p:nvSpPr>
          <p:cNvPr id="215" name="Card0x0"/>
          <p:cNvSpPr>
            <a:spLocks noGrp="1"/>
          </p:cNvSpPr>
          <p:nvPr/>
        </p:nvSpPr>
        <p:spPr>
          <a:xfrm>
            <a:off x="560778" y="2915392"/>
            <a:ext cx="3149600" cy="889000"/>
          </a:xfrm>
          <a:prstGeom prst="roundRect">
            <a:avLst>
              <a:gd name="adj" fmla="val 10000"/>
            </a:avLst>
          </a:prstGeom>
          <a:solidFill>
            <a:srgbClr val="FFFFFF"/>
          </a:solidFill>
          <a:ln w="12700">
            <a:solidFill>
              <a:srgbClr val="009CBD"/>
            </a:solidFill>
          </a:ln>
        </p:spPr>
        <p:txBody>
          <a:bodyPr/>
          <a:lstStyle/>
          <a:p>
            <a:endParaRPr lang="en-US" dirty="0"/>
          </a:p>
        </p:txBody>
      </p:sp>
      <p:sp>
        <p:nvSpPr>
          <p:cNvPr id="216" name="Str0x0"/>
          <p:cNvSpPr>
            <a:spLocks noGrp="1"/>
          </p:cNvSpPr>
          <p:nvPr/>
        </p:nvSpPr>
        <p:spPr>
          <a:xfrm>
            <a:off x="560778" y="2915392"/>
            <a:ext cx="63500" cy="889000"/>
          </a:xfrm>
          <a:prstGeom prst="rect">
            <a:avLst/>
          </a:prstGeom>
          <a:solidFill>
            <a:srgbClr val="009CBD"/>
          </a:solidFill>
          <a:ln>
            <a:noFill/>
          </a:ln>
        </p:spPr>
        <p:txBody>
          <a:bodyPr/>
          <a:lstStyle/>
          <a:p>
            <a:endParaRPr lang="en-US" dirty="0"/>
          </a:p>
        </p:txBody>
      </p:sp>
      <p:sp>
        <p:nvSpPr>
          <p:cNvPr id="217" name="Txt0x0"/>
          <p:cNvSpPr txBox="1">
            <a:spLocks noGrp="1"/>
          </p:cNvSpPr>
          <p:nvPr/>
        </p:nvSpPr>
        <p:spPr>
          <a:xfrm>
            <a:off x="662378" y="30042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Research Agent</a:t>
            </a:r>
          </a:p>
          <a:p>
            <a:pPr algn="l">
              <a:buNone/>
            </a:pPr>
            <a:r>
              <a:rPr lang="en-US" sz="1400" dirty="0">
                <a:solidFill>
                  <a:srgbClr val="666666"/>
                </a:solidFill>
              </a:rPr>
              <a:t>Gathers requirements</a:t>
            </a:r>
          </a:p>
          <a:p>
            <a:pPr algn="l">
              <a:buNone/>
            </a:pPr>
            <a:r>
              <a:rPr lang="en-US" sz="1400" dirty="0">
                <a:solidFill>
                  <a:srgbClr val="666666"/>
                </a:solidFill>
              </a:rPr>
              <a:t>&amp; existing code patterns</a:t>
            </a:r>
          </a:p>
        </p:txBody>
      </p:sp>
      <p:sp>
        <p:nvSpPr>
          <p:cNvPr id="218" name="Card0x1"/>
          <p:cNvSpPr>
            <a:spLocks noGrp="1"/>
          </p:cNvSpPr>
          <p:nvPr/>
        </p:nvSpPr>
        <p:spPr>
          <a:xfrm>
            <a:off x="560778" y="3905992"/>
            <a:ext cx="3149600" cy="889000"/>
          </a:xfrm>
          <a:prstGeom prst="roundRect">
            <a:avLst>
              <a:gd name="adj" fmla="val 10000"/>
            </a:avLst>
          </a:prstGeom>
          <a:solidFill>
            <a:srgbClr val="FFFFFF"/>
          </a:solidFill>
          <a:ln w="12700">
            <a:solidFill>
              <a:srgbClr val="009CBD"/>
            </a:solidFill>
          </a:ln>
        </p:spPr>
        <p:txBody>
          <a:bodyPr/>
          <a:lstStyle/>
          <a:p>
            <a:endParaRPr lang="en-US" dirty="0"/>
          </a:p>
        </p:txBody>
      </p:sp>
      <p:sp>
        <p:nvSpPr>
          <p:cNvPr id="219" name="Str0x1"/>
          <p:cNvSpPr>
            <a:spLocks noGrp="1"/>
          </p:cNvSpPr>
          <p:nvPr/>
        </p:nvSpPr>
        <p:spPr>
          <a:xfrm>
            <a:off x="560778" y="3905992"/>
            <a:ext cx="63500" cy="889000"/>
          </a:xfrm>
          <a:prstGeom prst="rect">
            <a:avLst/>
          </a:prstGeom>
          <a:solidFill>
            <a:srgbClr val="009CBD"/>
          </a:solidFill>
          <a:ln>
            <a:noFill/>
          </a:ln>
        </p:spPr>
        <p:txBody>
          <a:bodyPr/>
          <a:lstStyle/>
          <a:p>
            <a:endParaRPr lang="en-US" dirty="0"/>
          </a:p>
        </p:txBody>
      </p:sp>
      <p:sp>
        <p:nvSpPr>
          <p:cNvPr id="220" name="Txt0x1"/>
          <p:cNvSpPr txBox="1">
            <a:spLocks noGrp="1"/>
          </p:cNvSpPr>
          <p:nvPr/>
        </p:nvSpPr>
        <p:spPr>
          <a:xfrm>
            <a:off x="662378" y="39948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Architecture Agent</a:t>
            </a:r>
          </a:p>
          <a:p>
            <a:pPr algn="l">
              <a:buNone/>
            </a:pPr>
            <a:r>
              <a:rPr lang="en-US" sz="1400" dirty="0">
                <a:solidFill>
                  <a:srgbClr val="666666"/>
                </a:solidFill>
              </a:rPr>
              <a:t>Designs system structure</a:t>
            </a:r>
          </a:p>
          <a:p>
            <a:pPr algn="l">
              <a:buNone/>
            </a:pPr>
            <a:r>
              <a:rPr lang="en-US" sz="1400" dirty="0">
                <a:solidFill>
                  <a:srgbClr val="666666"/>
                </a:solidFill>
              </a:rPr>
              <a:t>&amp; component map</a:t>
            </a:r>
          </a:p>
        </p:txBody>
      </p:sp>
      <p:sp>
        <p:nvSpPr>
          <p:cNvPr id="221" name="Card0x2"/>
          <p:cNvSpPr>
            <a:spLocks noGrp="1"/>
          </p:cNvSpPr>
          <p:nvPr/>
        </p:nvSpPr>
        <p:spPr>
          <a:xfrm>
            <a:off x="560778" y="4896592"/>
            <a:ext cx="3149600" cy="889000"/>
          </a:xfrm>
          <a:prstGeom prst="roundRect">
            <a:avLst>
              <a:gd name="adj" fmla="val 10000"/>
            </a:avLst>
          </a:prstGeom>
          <a:solidFill>
            <a:srgbClr val="FFFFFF"/>
          </a:solidFill>
          <a:ln w="12700">
            <a:solidFill>
              <a:srgbClr val="009CBD"/>
            </a:solidFill>
          </a:ln>
        </p:spPr>
        <p:txBody>
          <a:bodyPr/>
          <a:lstStyle/>
          <a:p>
            <a:endParaRPr lang="en-US" dirty="0"/>
          </a:p>
        </p:txBody>
      </p:sp>
      <p:sp>
        <p:nvSpPr>
          <p:cNvPr id="222" name="Str0x2"/>
          <p:cNvSpPr>
            <a:spLocks noGrp="1"/>
          </p:cNvSpPr>
          <p:nvPr/>
        </p:nvSpPr>
        <p:spPr>
          <a:xfrm>
            <a:off x="560778" y="4896592"/>
            <a:ext cx="63500" cy="889000"/>
          </a:xfrm>
          <a:prstGeom prst="rect">
            <a:avLst/>
          </a:prstGeom>
          <a:solidFill>
            <a:srgbClr val="009CBD"/>
          </a:solidFill>
          <a:ln>
            <a:noFill/>
          </a:ln>
        </p:spPr>
        <p:txBody>
          <a:bodyPr/>
          <a:lstStyle/>
          <a:p>
            <a:endParaRPr lang="en-US" dirty="0"/>
          </a:p>
        </p:txBody>
      </p:sp>
      <p:sp>
        <p:nvSpPr>
          <p:cNvPr id="223" name="Txt0x2"/>
          <p:cNvSpPr txBox="1">
            <a:spLocks noGrp="1"/>
          </p:cNvSpPr>
          <p:nvPr/>
        </p:nvSpPr>
        <p:spPr>
          <a:xfrm>
            <a:off x="662378" y="49854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Dependency Agent</a:t>
            </a:r>
          </a:p>
          <a:p>
            <a:pPr algn="l">
              <a:buNone/>
            </a:pPr>
            <a:r>
              <a:rPr lang="en-US" sz="1400" dirty="0">
                <a:solidFill>
                  <a:srgbClr val="666666"/>
                </a:solidFill>
              </a:rPr>
              <a:t>Maps libraries, APIs</a:t>
            </a:r>
          </a:p>
          <a:p>
            <a:pPr algn="l">
              <a:buNone/>
            </a:pPr>
            <a:r>
              <a:rPr lang="en-US" sz="1400" dirty="0">
                <a:solidFill>
                  <a:srgbClr val="666666"/>
                </a:solidFill>
              </a:rPr>
              <a:t>&amp; data flows</a:t>
            </a:r>
          </a:p>
        </p:txBody>
      </p:sp>
      <p:sp>
        <p:nvSpPr>
          <p:cNvPr id="240" name="ColBg1"/>
          <p:cNvSpPr>
            <a:spLocks noGrp="1"/>
          </p:cNvSpPr>
          <p:nvPr/>
        </p:nvSpPr>
        <p:spPr>
          <a:xfrm>
            <a:off x="4484912" y="2153392"/>
            <a:ext cx="3403600" cy="3759200"/>
          </a:xfrm>
          <a:prstGeom prst="roundRect">
            <a:avLst>
              <a:gd name="adj" fmla="val 8000"/>
            </a:avLst>
          </a:prstGeom>
          <a:solidFill>
            <a:srgbClr val="FFF3EC"/>
          </a:solidFill>
          <a:ln w="19050">
            <a:solidFill>
              <a:srgbClr val="F66900"/>
            </a:solidFill>
          </a:ln>
        </p:spPr>
        <p:txBody>
          <a:bodyPr/>
          <a:lstStyle/>
          <a:p>
            <a:endParaRPr lang="en-US" dirty="0"/>
          </a:p>
        </p:txBody>
      </p:sp>
      <p:sp>
        <p:nvSpPr>
          <p:cNvPr id="241" name="Chip1"/>
          <p:cNvSpPr>
            <a:spLocks noGrp="1"/>
          </p:cNvSpPr>
          <p:nvPr/>
        </p:nvSpPr>
        <p:spPr>
          <a:xfrm>
            <a:off x="4611912" y="2267692"/>
            <a:ext cx="787400" cy="254000"/>
          </a:xfrm>
          <a:prstGeom prst="roundRect">
            <a:avLst>
              <a:gd name="adj" fmla="val 50000"/>
            </a:avLst>
          </a:prstGeom>
          <a:solidFill>
            <a:srgbClr val="B34D00"/>
          </a:solidFill>
          <a:ln>
            <a:noFill/>
          </a:ln>
        </p:spPr>
        <p:txBody>
          <a:bodyPr/>
          <a:lstStyle/>
          <a:p>
            <a:endParaRPr lang="en-US" dirty="0"/>
          </a:p>
        </p:txBody>
      </p:sp>
      <p:sp>
        <p:nvSpPr>
          <p:cNvPr id="242" name="ChipTxt1"/>
          <p:cNvSpPr txBox="1">
            <a:spLocks noGrp="1"/>
          </p:cNvSpPr>
          <p:nvPr/>
        </p:nvSpPr>
        <p:spPr>
          <a:xfrm>
            <a:off x="4611912" y="2267692"/>
            <a:ext cx="787400" cy="254000"/>
          </a:xfrm>
          <a:prstGeom prst="rect">
            <a:avLst/>
          </a:prstGeom>
          <a:noFill/>
          <a:ln>
            <a:noFill/>
          </a:ln>
        </p:spPr>
        <p:txBody>
          <a:bodyPr wrap="square" lIns="57150" tIns="0" rIns="57150" bIns="0" anchor="ctr"/>
          <a:lstStyle/>
          <a:p>
            <a:pPr algn="ctr">
              <a:buNone/>
            </a:pPr>
            <a:r>
              <a:rPr lang="en-US" sz="900" b="1" dirty="0">
                <a:solidFill>
                  <a:srgbClr val="FFFFFF"/>
                </a:solidFill>
              </a:rPr>
              <a:t>02  BUILD</a:t>
            </a:r>
          </a:p>
        </p:txBody>
      </p:sp>
      <p:sp>
        <p:nvSpPr>
          <p:cNvPr id="243" name="ColTitle1"/>
          <p:cNvSpPr txBox="1">
            <a:spLocks noGrp="1"/>
          </p:cNvSpPr>
          <p:nvPr/>
        </p:nvSpPr>
        <p:spPr>
          <a:xfrm>
            <a:off x="4611912" y="2534392"/>
            <a:ext cx="3149600" cy="254000"/>
          </a:xfrm>
          <a:prstGeom prst="rect">
            <a:avLst/>
          </a:prstGeom>
          <a:noFill/>
          <a:ln>
            <a:noFill/>
          </a:ln>
        </p:spPr>
        <p:txBody>
          <a:bodyPr wrap="square" lIns="57150" tIns="0" rIns="57150" bIns="0" anchor="ctr"/>
          <a:lstStyle/>
          <a:p>
            <a:pPr algn="l">
              <a:buNone/>
            </a:pPr>
            <a:r>
              <a:rPr lang="en-US" sz="1300" b="1" dirty="0">
                <a:solidFill>
                  <a:srgbClr val="B34D00"/>
                </a:solidFill>
              </a:rPr>
              <a:t>Specialized Agents Build</a:t>
            </a:r>
          </a:p>
        </p:txBody>
      </p:sp>
      <p:sp>
        <p:nvSpPr>
          <p:cNvPr id="244" name="Div1"/>
          <p:cNvSpPr>
            <a:spLocks noGrp="1"/>
          </p:cNvSpPr>
          <p:nvPr/>
        </p:nvSpPr>
        <p:spPr>
          <a:xfrm>
            <a:off x="4611912" y="2813792"/>
            <a:ext cx="3149600" cy="25400"/>
          </a:xfrm>
          <a:prstGeom prst="rect">
            <a:avLst/>
          </a:prstGeom>
          <a:solidFill>
            <a:srgbClr val="F66900"/>
          </a:solidFill>
          <a:ln>
            <a:noFill/>
          </a:ln>
        </p:spPr>
        <p:txBody>
          <a:bodyPr/>
          <a:lstStyle/>
          <a:p>
            <a:endParaRPr lang="en-US" dirty="0"/>
          </a:p>
        </p:txBody>
      </p:sp>
      <p:sp>
        <p:nvSpPr>
          <p:cNvPr id="245" name="Card1x0"/>
          <p:cNvSpPr>
            <a:spLocks noGrp="1"/>
          </p:cNvSpPr>
          <p:nvPr/>
        </p:nvSpPr>
        <p:spPr>
          <a:xfrm>
            <a:off x="4611912" y="2915392"/>
            <a:ext cx="3149600" cy="889000"/>
          </a:xfrm>
          <a:prstGeom prst="roundRect">
            <a:avLst>
              <a:gd name="adj" fmla="val 10000"/>
            </a:avLst>
          </a:prstGeom>
          <a:solidFill>
            <a:srgbClr val="FFFFFF"/>
          </a:solidFill>
          <a:ln w="12700">
            <a:solidFill>
              <a:srgbClr val="F66900"/>
            </a:solidFill>
          </a:ln>
        </p:spPr>
        <p:txBody>
          <a:bodyPr/>
          <a:lstStyle/>
          <a:p>
            <a:endParaRPr lang="en-US" dirty="0"/>
          </a:p>
        </p:txBody>
      </p:sp>
      <p:sp>
        <p:nvSpPr>
          <p:cNvPr id="246" name="Str1x0"/>
          <p:cNvSpPr>
            <a:spLocks noGrp="1"/>
          </p:cNvSpPr>
          <p:nvPr/>
        </p:nvSpPr>
        <p:spPr>
          <a:xfrm>
            <a:off x="4611912" y="2915392"/>
            <a:ext cx="63500" cy="889000"/>
          </a:xfrm>
          <a:prstGeom prst="rect">
            <a:avLst/>
          </a:prstGeom>
          <a:solidFill>
            <a:srgbClr val="F66900"/>
          </a:solidFill>
          <a:ln>
            <a:noFill/>
          </a:ln>
        </p:spPr>
        <p:txBody>
          <a:bodyPr/>
          <a:lstStyle/>
          <a:p>
            <a:endParaRPr lang="en-US" dirty="0"/>
          </a:p>
        </p:txBody>
      </p:sp>
      <p:sp>
        <p:nvSpPr>
          <p:cNvPr id="247" name="Txt1x0"/>
          <p:cNvSpPr txBox="1">
            <a:spLocks noGrp="1"/>
          </p:cNvSpPr>
          <p:nvPr/>
        </p:nvSpPr>
        <p:spPr>
          <a:xfrm>
            <a:off x="4713512" y="30042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Code Agent</a:t>
            </a:r>
          </a:p>
          <a:p>
            <a:pPr algn="l">
              <a:buNone/>
            </a:pPr>
            <a:r>
              <a:rPr lang="en-US" sz="1400" dirty="0">
                <a:solidFill>
                  <a:srgbClr val="666666"/>
                </a:solidFill>
              </a:rPr>
              <a:t>Writes core logic</a:t>
            </a:r>
          </a:p>
          <a:p>
            <a:pPr algn="l">
              <a:buNone/>
            </a:pPr>
            <a:r>
              <a:rPr lang="en-US" sz="1400" dirty="0">
                <a:solidFill>
                  <a:srgbClr val="666666"/>
                </a:solidFill>
              </a:rPr>
              <a:t>&amp; business rules</a:t>
            </a:r>
          </a:p>
        </p:txBody>
      </p:sp>
      <p:sp>
        <p:nvSpPr>
          <p:cNvPr id="248" name="Card1x1"/>
          <p:cNvSpPr>
            <a:spLocks noGrp="1"/>
          </p:cNvSpPr>
          <p:nvPr/>
        </p:nvSpPr>
        <p:spPr>
          <a:xfrm>
            <a:off x="4611912" y="3905992"/>
            <a:ext cx="3149600" cy="889000"/>
          </a:xfrm>
          <a:prstGeom prst="roundRect">
            <a:avLst>
              <a:gd name="adj" fmla="val 10000"/>
            </a:avLst>
          </a:prstGeom>
          <a:solidFill>
            <a:srgbClr val="FFFFFF"/>
          </a:solidFill>
          <a:ln w="12700">
            <a:solidFill>
              <a:srgbClr val="F66900"/>
            </a:solidFill>
          </a:ln>
        </p:spPr>
        <p:txBody>
          <a:bodyPr/>
          <a:lstStyle/>
          <a:p>
            <a:endParaRPr lang="en-US" dirty="0"/>
          </a:p>
        </p:txBody>
      </p:sp>
      <p:sp>
        <p:nvSpPr>
          <p:cNvPr id="249" name="Str1x1"/>
          <p:cNvSpPr>
            <a:spLocks noGrp="1"/>
          </p:cNvSpPr>
          <p:nvPr/>
        </p:nvSpPr>
        <p:spPr>
          <a:xfrm>
            <a:off x="4611912" y="3905992"/>
            <a:ext cx="63500" cy="889000"/>
          </a:xfrm>
          <a:prstGeom prst="rect">
            <a:avLst/>
          </a:prstGeom>
          <a:solidFill>
            <a:srgbClr val="F66900"/>
          </a:solidFill>
          <a:ln>
            <a:noFill/>
          </a:ln>
        </p:spPr>
        <p:txBody>
          <a:bodyPr/>
          <a:lstStyle/>
          <a:p>
            <a:endParaRPr lang="en-US" dirty="0"/>
          </a:p>
        </p:txBody>
      </p:sp>
      <p:sp>
        <p:nvSpPr>
          <p:cNvPr id="250" name="Txt1x1"/>
          <p:cNvSpPr txBox="1">
            <a:spLocks noGrp="1"/>
          </p:cNvSpPr>
          <p:nvPr/>
        </p:nvSpPr>
        <p:spPr>
          <a:xfrm>
            <a:off x="4713512" y="39948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UI Agent</a:t>
            </a:r>
          </a:p>
          <a:p>
            <a:pPr algn="l">
              <a:buNone/>
            </a:pPr>
            <a:r>
              <a:rPr lang="en-US" sz="1400" dirty="0">
                <a:solidFill>
                  <a:srgbClr val="666666"/>
                </a:solidFill>
              </a:rPr>
              <a:t>Builds interfaces</a:t>
            </a:r>
          </a:p>
          <a:p>
            <a:pPr algn="l">
              <a:buNone/>
            </a:pPr>
            <a:r>
              <a:rPr lang="en-US" sz="1400" dirty="0">
                <a:solidFill>
                  <a:srgbClr val="666666"/>
                </a:solidFill>
              </a:rPr>
              <a:t>&amp; user flows</a:t>
            </a:r>
          </a:p>
        </p:txBody>
      </p:sp>
      <p:sp>
        <p:nvSpPr>
          <p:cNvPr id="251" name="Card1x2"/>
          <p:cNvSpPr>
            <a:spLocks noGrp="1"/>
          </p:cNvSpPr>
          <p:nvPr/>
        </p:nvSpPr>
        <p:spPr>
          <a:xfrm>
            <a:off x="4611912" y="4896592"/>
            <a:ext cx="3149600" cy="889000"/>
          </a:xfrm>
          <a:prstGeom prst="roundRect">
            <a:avLst>
              <a:gd name="adj" fmla="val 10000"/>
            </a:avLst>
          </a:prstGeom>
          <a:solidFill>
            <a:srgbClr val="FFFFFF"/>
          </a:solidFill>
          <a:ln w="12700">
            <a:solidFill>
              <a:srgbClr val="F66900"/>
            </a:solidFill>
          </a:ln>
        </p:spPr>
        <p:txBody>
          <a:bodyPr/>
          <a:lstStyle/>
          <a:p>
            <a:endParaRPr lang="en-US" dirty="0"/>
          </a:p>
        </p:txBody>
      </p:sp>
      <p:sp>
        <p:nvSpPr>
          <p:cNvPr id="252" name="Str1x2"/>
          <p:cNvSpPr>
            <a:spLocks noGrp="1"/>
          </p:cNvSpPr>
          <p:nvPr/>
        </p:nvSpPr>
        <p:spPr>
          <a:xfrm>
            <a:off x="4611912" y="4896592"/>
            <a:ext cx="63500" cy="889000"/>
          </a:xfrm>
          <a:prstGeom prst="rect">
            <a:avLst/>
          </a:prstGeom>
          <a:solidFill>
            <a:srgbClr val="F66900"/>
          </a:solidFill>
          <a:ln>
            <a:noFill/>
          </a:ln>
        </p:spPr>
        <p:txBody>
          <a:bodyPr/>
          <a:lstStyle/>
          <a:p>
            <a:endParaRPr lang="en-US" dirty="0"/>
          </a:p>
        </p:txBody>
      </p:sp>
      <p:sp>
        <p:nvSpPr>
          <p:cNvPr id="253" name="Txt1x2"/>
          <p:cNvSpPr txBox="1">
            <a:spLocks noGrp="1"/>
          </p:cNvSpPr>
          <p:nvPr/>
        </p:nvSpPr>
        <p:spPr>
          <a:xfrm>
            <a:off x="4713512" y="49854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API Agent</a:t>
            </a:r>
          </a:p>
          <a:p>
            <a:pPr algn="l">
              <a:buNone/>
            </a:pPr>
            <a:r>
              <a:rPr lang="en-US" sz="1400" dirty="0">
                <a:solidFill>
                  <a:srgbClr val="666666"/>
                </a:solidFill>
              </a:rPr>
              <a:t>Connects services</a:t>
            </a:r>
          </a:p>
          <a:p>
            <a:pPr algn="l">
              <a:buNone/>
            </a:pPr>
            <a:r>
              <a:rPr lang="en-US" sz="1400" dirty="0">
                <a:solidFill>
                  <a:srgbClr val="666666"/>
                </a:solidFill>
              </a:rPr>
              <a:t>&amp; integrations</a:t>
            </a:r>
          </a:p>
        </p:txBody>
      </p:sp>
      <p:sp>
        <p:nvSpPr>
          <p:cNvPr id="270" name="ColBg2"/>
          <p:cNvSpPr>
            <a:spLocks noGrp="1"/>
          </p:cNvSpPr>
          <p:nvPr/>
        </p:nvSpPr>
        <p:spPr>
          <a:xfrm>
            <a:off x="8536046" y="2153392"/>
            <a:ext cx="3403600" cy="3759200"/>
          </a:xfrm>
          <a:prstGeom prst="roundRect">
            <a:avLst>
              <a:gd name="adj" fmla="val 8000"/>
            </a:avLst>
          </a:prstGeom>
          <a:solidFill>
            <a:srgbClr val="F5F9DA"/>
          </a:solidFill>
          <a:ln w="19050">
            <a:solidFill>
              <a:srgbClr val="C4D500"/>
            </a:solidFill>
          </a:ln>
        </p:spPr>
        <p:txBody>
          <a:bodyPr/>
          <a:lstStyle/>
          <a:p>
            <a:endParaRPr lang="en-US" dirty="0"/>
          </a:p>
        </p:txBody>
      </p:sp>
      <p:sp>
        <p:nvSpPr>
          <p:cNvPr id="271" name="Chip2"/>
          <p:cNvSpPr>
            <a:spLocks noGrp="1"/>
          </p:cNvSpPr>
          <p:nvPr/>
        </p:nvSpPr>
        <p:spPr>
          <a:xfrm>
            <a:off x="8663046" y="2267692"/>
            <a:ext cx="787400" cy="254000"/>
          </a:xfrm>
          <a:prstGeom prst="roundRect">
            <a:avLst>
              <a:gd name="adj" fmla="val 50000"/>
            </a:avLst>
          </a:prstGeom>
          <a:solidFill>
            <a:srgbClr val="8A9400"/>
          </a:solidFill>
          <a:ln>
            <a:noFill/>
          </a:ln>
        </p:spPr>
        <p:txBody>
          <a:bodyPr/>
          <a:lstStyle/>
          <a:p>
            <a:endParaRPr lang="en-US" dirty="0"/>
          </a:p>
        </p:txBody>
      </p:sp>
      <p:sp>
        <p:nvSpPr>
          <p:cNvPr id="272" name="ChipTxt2"/>
          <p:cNvSpPr txBox="1">
            <a:spLocks noGrp="1"/>
          </p:cNvSpPr>
          <p:nvPr/>
        </p:nvSpPr>
        <p:spPr>
          <a:xfrm>
            <a:off x="8663046" y="2267692"/>
            <a:ext cx="787400" cy="254000"/>
          </a:xfrm>
          <a:prstGeom prst="rect">
            <a:avLst/>
          </a:prstGeom>
          <a:noFill/>
          <a:ln>
            <a:noFill/>
          </a:ln>
        </p:spPr>
        <p:txBody>
          <a:bodyPr wrap="square" lIns="57150" tIns="0" rIns="57150" bIns="0" anchor="ctr"/>
          <a:lstStyle/>
          <a:p>
            <a:pPr algn="ctr">
              <a:buNone/>
            </a:pPr>
            <a:r>
              <a:rPr lang="en-US" sz="900" b="1" dirty="0">
                <a:solidFill>
                  <a:srgbClr val="FFFFFF"/>
                </a:solidFill>
              </a:rPr>
              <a:t>03  TEST</a:t>
            </a:r>
          </a:p>
        </p:txBody>
      </p:sp>
      <p:sp>
        <p:nvSpPr>
          <p:cNvPr id="273" name="ColTitle2"/>
          <p:cNvSpPr txBox="1">
            <a:spLocks noGrp="1"/>
          </p:cNvSpPr>
          <p:nvPr/>
        </p:nvSpPr>
        <p:spPr>
          <a:xfrm>
            <a:off x="8663046" y="2534392"/>
            <a:ext cx="3149600" cy="254000"/>
          </a:xfrm>
          <a:prstGeom prst="rect">
            <a:avLst/>
          </a:prstGeom>
          <a:noFill/>
          <a:ln>
            <a:noFill/>
          </a:ln>
        </p:spPr>
        <p:txBody>
          <a:bodyPr wrap="square" lIns="57150" tIns="0" rIns="57150" bIns="0" anchor="ctr"/>
          <a:lstStyle/>
          <a:p>
            <a:pPr algn="l">
              <a:buNone/>
            </a:pPr>
            <a:r>
              <a:rPr lang="en-US" sz="1300" b="1" dirty="0">
                <a:solidFill>
                  <a:srgbClr val="8A9400"/>
                </a:solidFill>
              </a:rPr>
              <a:t>Agents Verify &amp; Test</a:t>
            </a:r>
          </a:p>
        </p:txBody>
      </p:sp>
      <p:sp>
        <p:nvSpPr>
          <p:cNvPr id="274" name="Div2"/>
          <p:cNvSpPr>
            <a:spLocks noGrp="1"/>
          </p:cNvSpPr>
          <p:nvPr/>
        </p:nvSpPr>
        <p:spPr>
          <a:xfrm>
            <a:off x="8663046" y="2813792"/>
            <a:ext cx="3149600" cy="25400"/>
          </a:xfrm>
          <a:prstGeom prst="rect">
            <a:avLst/>
          </a:prstGeom>
          <a:solidFill>
            <a:srgbClr val="C4D500"/>
          </a:solidFill>
          <a:ln>
            <a:noFill/>
          </a:ln>
        </p:spPr>
        <p:txBody>
          <a:bodyPr/>
          <a:lstStyle/>
          <a:p>
            <a:endParaRPr lang="en-US" dirty="0"/>
          </a:p>
        </p:txBody>
      </p:sp>
      <p:sp>
        <p:nvSpPr>
          <p:cNvPr id="275" name="Card2x0"/>
          <p:cNvSpPr>
            <a:spLocks noGrp="1"/>
          </p:cNvSpPr>
          <p:nvPr/>
        </p:nvSpPr>
        <p:spPr>
          <a:xfrm>
            <a:off x="8663046" y="2915392"/>
            <a:ext cx="3149600" cy="889000"/>
          </a:xfrm>
          <a:prstGeom prst="roundRect">
            <a:avLst>
              <a:gd name="adj" fmla="val 10000"/>
            </a:avLst>
          </a:prstGeom>
          <a:solidFill>
            <a:srgbClr val="FFFFFF"/>
          </a:solidFill>
          <a:ln w="12700">
            <a:solidFill>
              <a:srgbClr val="C4D500"/>
            </a:solidFill>
          </a:ln>
        </p:spPr>
        <p:txBody>
          <a:bodyPr/>
          <a:lstStyle/>
          <a:p>
            <a:endParaRPr lang="en-US" dirty="0"/>
          </a:p>
        </p:txBody>
      </p:sp>
      <p:sp>
        <p:nvSpPr>
          <p:cNvPr id="276" name="Str2x0"/>
          <p:cNvSpPr>
            <a:spLocks noGrp="1"/>
          </p:cNvSpPr>
          <p:nvPr/>
        </p:nvSpPr>
        <p:spPr>
          <a:xfrm>
            <a:off x="8663046" y="2915392"/>
            <a:ext cx="63500" cy="889000"/>
          </a:xfrm>
          <a:prstGeom prst="rect">
            <a:avLst/>
          </a:prstGeom>
          <a:solidFill>
            <a:srgbClr val="C4D500"/>
          </a:solidFill>
          <a:ln>
            <a:noFill/>
          </a:ln>
        </p:spPr>
        <p:txBody>
          <a:bodyPr/>
          <a:lstStyle/>
          <a:p>
            <a:endParaRPr lang="en-US" dirty="0"/>
          </a:p>
        </p:txBody>
      </p:sp>
      <p:sp>
        <p:nvSpPr>
          <p:cNvPr id="277" name="Txt2x0"/>
          <p:cNvSpPr txBox="1">
            <a:spLocks noGrp="1"/>
          </p:cNvSpPr>
          <p:nvPr/>
        </p:nvSpPr>
        <p:spPr>
          <a:xfrm>
            <a:off x="8764646" y="30042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Unit Test Agent</a:t>
            </a:r>
          </a:p>
          <a:p>
            <a:pPr algn="l">
              <a:buNone/>
            </a:pPr>
            <a:r>
              <a:rPr lang="en-US" sz="1400" dirty="0">
                <a:solidFill>
                  <a:srgbClr val="666666"/>
                </a:solidFill>
              </a:rPr>
              <a:t>Tests individual</a:t>
            </a:r>
          </a:p>
          <a:p>
            <a:pPr algn="l">
              <a:buNone/>
            </a:pPr>
            <a:r>
              <a:rPr lang="en-US" sz="1400" dirty="0">
                <a:solidFill>
                  <a:srgbClr val="666666"/>
                </a:solidFill>
              </a:rPr>
              <a:t>functions &amp; modules</a:t>
            </a:r>
          </a:p>
        </p:txBody>
      </p:sp>
      <p:sp>
        <p:nvSpPr>
          <p:cNvPr id="278" name="Card2x1"/>
          <p:cNvSpPr>
            <a:spLocks noGrp="1"/>
          </p:cNvSpPr>
          <p:nvPr/>
        </p:nvSpPr>
        <p:spPr>
          <a:xfrm>
            <a:off x="8663046" y="3905992"/>
            <a:ext cx="3149600" cy="889000"/>
          </a:xfrm>
          <a:prstGeom prst="roundRect">
            <a:avLst>
              <a:gd name="adj" fmla="val 10000"/>
            </a:avLst>
          </a:prstGeom>
          <a:solidFill>
            <a:srgbClr val="FFFFFF"/>
          </a:solidFill>
          <a:ln w="12700">
            <a:solidFill>
              <a:srgbClr val="C4D500"/>
            </a:solidFill>
          </a:ln>
        </p:spPr>
        <p:txBody>
          <a:bodyPr/>
          <a:lstStyle/>
          <a:p>
            <a:endParaRPr lang="en-US" dirty="0"/>
          </a:p>
        </p:txBody>
      </p:sp>
      <p:sp>
        <p:nvSpPr>
          <p:cNvPr id="279" name="Str2x1"/>
          <p:cNvSpPr>
            <a:spLocks noGrp="1"/>
          </p:cNvSpPr>
          <p:nvPr/>
        </p:nvSpPr>
        <p:spPr>
          <a:xfrm>
            <a:off x="8663046" y="3905992"/>
            <a:ext cx="63500" cy="889000"/>
          </a:xfrm>
          <a:prstGeom prst="rect">
            <a:avLst/>
          </a:prstGeom>
          <a:solidFill>
            <a:srgbClr val="C4D500"/>
          </a:solidFill>
          <a:ln>
            <a:noFill/>
          </a:ln>
        </p:spPr>
        <p:txBody>
          <a:bodyPr/>
          <a:lstStyle/>
          <a:p>
            <a:endParaRPr lang="en-US" dirty="0"/>
          </a:p>
        </p:txBody>
      </p:sp>
      <p:sp>
        <p:nvSpPr>
          <p:cNvPr id="280" name="Txt2x1"/>
          <p:cNvSpPr txBox="1">
            <a:spLocks noGrp="1"/>
          </p:cNvSpPr>
          <p:nvPr/>
        </p:nvSpPr>
        <p:spPr>
          <a:xfrm>
            <a:off x="8764646" y="39948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Integration Agent</a:t>
            </a:r>
          </a:p>
          <a:p>
            <a:pPr algn="l">
              <a:buNone/>
            </a:pPr>
            <a:r>
              <a:rPr lang="en-US" sz="1400" dirty="0">
                <a:solidFill>
                  <a:srgbClr val="666666"/>
                </a:solidFill>
              </a:rPr>
              <a:t>Validates cross-service</a:t>
            </a:r>
          </a:p>
          <a:p>
            <a:pPr algn="l">
              <a:buNone/>
            </a:pPr>
            <a:r>
              <a:rPr lang="en-US" sz="1400" dirty="0">
                <a:solidFill>
                  <a:srgbClr val="666666"/>
                </a:solidFill>
              </a:rPr>
              <a:t>behaviour</a:t>
            </a:r>
          </a:p>
        </p:txBody>
      </p:sp>
      <p:sp>
        <p:nvSpPr>
          <p:cNvPr id="281" name="Card2x2"/>
          <p:cNvSpPr>
            <a:spLocks noGrp="1"/>
          </p:cNvSpPr>
          <p:nvPr/>
        </p:nvSpPr>
        <p:spPr>
          <a:xfrm>
            <a:off x="8663046" y="4896592"/>
            <a:ext cx="3149600" cy="889000"/>
          </a:xfrm>
          <a:prstGeom prst="roundRect">
            <a:avLst>
              <a:gd name="adj" fmla="val 10000"/>
            </a:avLst>
          </a:prstGeom>
          <a:solidFill>
            <a:srgbClr val="FFFFFF"/>
          </a:solidFill>
          <a:ln w="12700">
            <a:solidFill>
              <a:srgbClr val="C4D500"/>
            </a:solidFill>
          </a:ln>
        </p:spPr>
        <p:txBody>
          <a:bodyPr/>
          <a:lstStyle/>
          <a:p>
            <a:endParaRPr lang="en-US" dirty="0"/>
          </a:p>
        </p:txBody>
      </p:sp>
      <p:sp>
        <p:nvSpPr>
          <p:cNvPr id="282" name="Str2x2"/>
          <p:cNvSpPr>
            <a:spLocks noGrp="1"/>
          </p:cNvSpPr>
          <p:nvPr/>
        </p:nvSpPr>
        <p:spPr>
          <a:xfrm>
            <a:off x="8663046" y="4896592"/>
            <a:ext cx="63500" cy="889000"/>
          </a:xfrm>
          <a:prstGeom prst="rect">
            <a:avLst/>
          </a:prstGeom>
          <a:solidFill>
            <a:srgbClr val="C4D500"/>
          </a:solidFill>
          <a:ln>
            <a:noFill/>
          </a:ln>
        </p:spPr>
        <p:txBody>
          <a:bodyPr/>
          <a:lstStyle/>
          <a:p>
            <a:endParaRPr lang="en-US" dirty="0"/>
          </a:p>
        </p:txBody>
      </p:sp>
      <p:sp>
        <p:nvSpPr>
          <p:cNvPr id="283" name="Txt2x2"/>
          <p:cNvSpPr txBox="1">
            <a:spLocks noGrp="1"/>
          </p:cNvSpPr>
          <p:nvPr/>
        </p:nvSpPr>
        <p:spPr>
          <a:xfrm>
            <a:off x="8764646" y="4985492"/>
            <a:ext cx="2971800" cy="736600"/>
          </a:xfrm>
          <a:prstGeom prst="rect">
            <a:avLst/>
          </a:prstGeom>
          <a:noFill/>
          <a:ln>
            <a:noFill/>
          </a:ln>
        </p:spPr>
        <p:txBody>
          <a:bodyPr wrap="square" lIns="57150" tIns="0" rIns="57150" bIns="0" anchor="t"/>
          <a:lstStyle/>
          <a:p>
            <a:pPr algn="l">
              <a:buNone/>
            </a:pPr>
            <a:r>
              <a:rPr lang="en-US" sz="1800" b="1" dirty="0">
                <a:solidFill>
                  <a:srgbClr val="222222"/>
                </a:solidFill>
              </a:rPr>
              <a:t>QA Agent</a:t>
            </a:r>
          </a:p>
          <a:p>
            <a:pPr algn="l">
              <a:buNone/>
            </a:pPr>
            <a:r>
              <a:rPr lang="en-US" sz="1400" dirty="0">
                <a:solidFill>
                  <a:srgbClr val="666666"/>
                </a:solidFill>
              </a:rPr>
              <a:t>End-to-end checks</a:t>
            </a:r>
          </a:p>
          <a:p>
            <a:pPr algn="l">
              <a:buNone/>
            </a:pPr>
            <a:r>
              <a:rPr lang="en-US" sz="1400" dirty="0">
                <a:solidFill>
                  <a:srgbClr val="666666"/>
                </a:solidFill>
              </a:rPr>
              <a:t>&amp; edge cases</a:t>
            </a:r>
          </a:p>
        </p:txBody>
      </p:sp>
      <p:pic>
        <p:nvPicPr>
          <p:cNvPr id="302" name="Graphic 302" descr="Plan phas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67478" y="2204192"/>
            <a:ext cx="381000" cy="381000"/>
          </a:xfrm>
          <a:prstGeom prst="rect">
            <a:avLst/>
          </a:prstGeom>
        </p:spPr>
      </p:pic>
      <p:pic>
        <p:nvPicPr>
          <p:cNvPr id="303" name="Graphic 303" descr="Build phas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8612" y="2204192"/>
            <a:ext cx="381000" cy="381000"/>
          </a:xfrm>
          <a:prstGeom prst="rect">
            <a:avLst/>
          </a:prstGeom>
        </p:spPr>
      </p:pic>
      <p:pic>
        <p:nvPicPr>
          <p:cNvPr id="304" name="Graphic 304" descr="Test phas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69746" y="2204192"/>
            <a:ext cx="381000" cy="381000"/>
          </a:xfrm>
          <a:prstGeom prst="rect">
            <a:avLst/>
          </a:prstGeom>
        </p:spPr>
      </p:pic>
    </p:spTree>
    <p:extLst>
      <p:ext uri="{BB962C8B-B14F-4D97-AF65-F5344CB8AC3E}">
        <p14:creationId xmlns:p14="http://schemas.microsoft.com/office/powerpoint/2010/main" val="874568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E9531C-DA03-D7CB-581D-B491CBE61B78}"/>
              </a:ext>
            </a:extLst>
          </p:cNvPr>
          <p:cNvSpPr>
            <a:spLocks noGrp="1"/>
          </p:cNvSpPr>
          <p:nvPr>
            <p:ph type="title"/>
          </p:nvPr>
        </p:nvSpPr>
        <p:spPr/>
        <p:txBody>
          <a:bodyPr/>
          <a:lstStyle/>
          <a:p>
            <a:r>
              <a:rPr lang="en-US" dirty="0"/>
              <a:t>Building with Claude: Layer by Layer</a:t>
            </a:r>
          </a:p>
        </p:txBody>
      </p:sp>
      <p:sp>
        <p:nvSpPr>
          <p:cNvPr id="100" name="Ring0"/>
          <p:cNvSpPr>
            <a:spLocks noGrp="1"/>
          </p:cNvSpPr>
          <p:nvPr/>
        </p:nvSpPr>
        <p:spPr>
          <a:xfrm>
            <a:off x="1257300" y="1574800"/>
            <a:ext cx="4978400" cy="4978400"/>
          </a:xfrm>
          <a:prstGeom prst="ellipse">
            <a:avLst/>
          </a:prstGeom>
          <a:solidFill>
            <a:srgbClr val="EAF3E0"/>
          </a:solidFill>
          <a:ln w="22225">
            <a:solidFill>
              <a:srgbClr val="C4D500"/>
            </a:solidFill>
          </a:ln>
        </p:spPr>
        <p:txBody>
          <a:bodyPr/>
          <a:lstStyle/>
          <a:p>
            <a:endParaRPr lang="en-US" dirty="0"/>
          </a:p>
        </p:txBody>
      </p:sp>
      <p:sp>
        <p:nvSpPr>
          <p:cNvPr id="101" name="Ring1"/>
          <p:cNvSpPr>
            <a:spLocks noGrp="1"/>
          </p:cNvSpPr>
          <p:nvPr/>
        </p:nvSpPr>
        <p:spPr>
          <a:xfrm>
            <a:off x="1805049" y="2120900"/>
            <a:ext cx="3888674" cy="3886200"/>
          </a:xfrm>
          <a:prstGeom prst="ellipse">
            <a:avLst/>
          </a:prstGeom>
          <a:solidFill>
            <a:srgbClr val="FFF3EC"/>
          </a:solidFill>
          <a:ln w="22225">
            <a:solidFill>
              <a:srgbClr val="F66900"/>
            </a:solidFill>
          </a:ln>
        </p:spPr>
        <p:txBody>
          <a:bodyPr/>
          <a:lstStyle/>
          <a:p>
            <a:endParaRPr lang="en-US" dirty="0"/>
          </a:p>
        </p:txBody>
      </p:sp>
      <p:sp>
        <p:nvSpPr>
          <p:cNvPr id="103" name="Ring3"/>
          <p:cNvSpPr>
            <a:spLocks noGrp="1"/>
          </p:cNvSpPr>
          <p:nvPr/>
        </p:nvSpPr>
        <p:spPr>
          <a:xfrm>
            <a:off x="2417412" y="2712276"/>
            <a:ext cx="2658176" cy="2713016"/>
          </a:xfrm>
          <a:prstGeom prst="ellipse">
            <a:avLst/>
          </a:prstGeom>
          <a:solidFill>
            <a:srgbClr val="EDE8F7"/>
          </a:solidFill>
          <a:ln w="22225">
            <a:solidFill>
              <a:srgbClr val="7D54C7"/>
            </a:solidFill>
          </a:ln>
        </p:spPr>
        <p:txBody>
          <a:bodyPr/>
          <a:lstStyle/>
          <a:p>
            <a:endParaRPr lang="en-US" dirty="0"/>
          </a:p>
        </p:txBody>
      </p:sp>
      <p:sp>
        <p:nvSpPr>
          <p:cNvPr id="104" name="Ring4"/>
          <p:cNvSpPr>
            <a:spLocks noGrp="1"/>
          </p:cNvSpPr>
          <p:nvPr/>
        </p:nvSpPr>
        <p:spPr>
          <a:xfrm>
            <a:off x="3187700" y="3505200"/>
            <a:ext cx="1117600" cy="1117600"/>
          </a:xfrm>
          <a:prstGeom prst="ellipse">
            <a:avLst/>
          </a:prstGeom>
          <a:solidFill>
            <a:srgbClr val="1A1A2E"/>
          </a:solidFill>
          <a:ln w="22225">
            <a:solidFill>
              <a:srgbClr val="F66900"/>
            </a:solidFill>
          </a:ln>
        </p:spPr>
        <p:txBody>
          <a:bodyPr/>
          <a:lstStyle/>
          <a:p>
            <a:endParaRPr lang="en-US" dirty="0"/>
          </a:p>
        </p:txBody>
      </p:sp>
      <p:sp>
        <p:nvSpPr>
          <p:cNvPr id="110" name="CoreTxt"/>
          <p:cNvSpPr txBox="1">
            <a:spLocks noGrp="1"/>
          </p:cNvSpPr>
          <p:nvPr/>
        </p:nvSpPr>
        <p:spPr>
          <a:xfrm>
            <a:off x="3263900" y="3733800"/>
            <a:ext cx="965200" cy="660400"/>
          </a:xfrm>
          <a:prstGeom prst="rect">
            <a:avLst/>
          </a:prstGeom>
          <a:noFill/>
          <a:ln>
            <a:noFill/>
          </a:ln>
        </p:spPr>
        <p:txBody>
          <a:bodyPr wrap="square" lIns="57150" tIns="0" rIns="57150" bIns="0" anchor="ctr"/>
          <a:lstStyle/>
          <a:p>
            <a:pPr algn="ctr">
              <a:buNone/>
            </a:pPr>
            <a:r>
              <a:rPr lang="en-US" sz="1300" b="1" dirty="0">
                <a:solidFill>
                  <a:srgbClr val="FFFFFF"/>
                </a:solidFill>
              </a:rPr>
              <a:t>Core</a:t>
            </a:r>
          </a:p>
        </p:txBody>
      </p:sp>
      <p:sp>
        <p:nvSpPr>
          <p:cNvPr id="130" name="PanelBg"/>
          <p:cNvSpPr>
            <a:spLocks noGrp="1"/>
          </p:cNvSpPr>
          <p:nvPr/>
        </p:nvSpPr>
        <p:spPr>
          <a:xfrm>
            <a:off x="6477000" y="1878610"/>
            <a:ext cx="5435600" cy="3926692"/>
          </a:xfrm>
          <a:prstGeom prst="roundRect">
            <a:avLst>
              <a:gd name="adj" fmla="val 8000"/>
            </a:avLst>
          </a:prstGeom>
          <a:solidFill>
            <a:srgbClr val="F8F8F8"/>
          </a:solidFill>
          <a:ln w="9525">
            <a:solidFill>
              <a:srgbClr val="E0E0E0"/>
            </a:solidFill>
          </a:ln>
        </p:spPr>
        <p:txBody>
          <a:bodyPr/>
          <a:lstStyle/>
          <a:p>
            <a:endParaRPr lang="en-US" sz="3200" dirty="0"/>
          </a:p>
        </p:txBody>
      </p:sp>
      <p:sp>
        <p:nvSpPr>
          <p:cNvPr id="131" name="PanelTitle"/>
          <p:cNvSpPr txBox="1">
            <a:spLocks noGrp="1"/>
          </p:cNvSpPr>
          <p:nvPr/>
        </p:nvSpPr>
        <p:spPr>
          <a:xfrm>
            <a:off x="6654800" y="2005610"/>
            <a:ext cx="5080000" cy="330200"/>
          </a:xfrm>
          <a:prstGeom prst="rect">
            <a:avLst/>
          </a:prstGeom>
          <a:noFill/>
          <a:ln>
            <a:noFill/>
          </a:ln>
        </p:spPr>
        <p:txBody>
          <a:bodyPr wrap="square" lIns="57150" tIns="0" rIns="57150" bIns="0" anchor="ctr"/>
          <a:lstStyle/>
          <a:p>
            <a:pPr algn="l">
              <a:buNone/>
            </a:pPr>
            <a:r>
              <a:rPr lang="en-US" sz="1800" b="1" dirty="0">
                <a:solidFill>
                  <a:srgbClr val="1A1A2E"/>
                </a:solidFill>
              </a:rPr>
              <a:t>How Claude Builds in Layers</a:t>
            </a:r>
          </a:p>
        </p:txBody>
      </p:sp>
      <p:sp>
        <p:nvSpPr>
          <p:cNvPr id="132" name="PanelDiv"/>
          <p:cNvSpPr>
            <a:spLocks noGrp="1"/>
          </p:cNvSpPr>
          <p:nvPr/>
        </p:nvSpPr>
        <p:spPr>
          <a:xfrm>
            <a:off x="6654800" y="2361210"/>
            <a:ext cx="5080000" cy="25400"/>
          </a:xfrm>
          <a:prstGeom prst="rect">
            <a:avLst/>
          </a:prstGeom>
          <a:solidFill>
            <a:srgbClr val="DDDDDD"/>
          </a:solidFill>
          <a:ln>
            <a:noFill/>
          </a:ln>
        </p:spPr>
        <p:txBody>
          <a:bodyPr/>
          <a:lstStyle/>
          <a:p>
            <a:endParaRPr lang="en-US" sz="3200" dirty="0"/>
          </a:p>
        </p:txBody>
      </p:sp>
      <p:sp>
        <p:nvSpPr>
          <p:cNvPr id="140" name="Dot0"/>
          <p:cNvSpPr>
            <a:spLocks noGrp="1"/>
          </p:cNvSpPr>
          <p:nvPr/>
        </p:nvSpPr>
        <p:spPr>
          <a:xfrm>
            <a:off x="6654800" y="2564410"/>
            <a:ext cx="304800" cy="304800"/>
          </a:xfrm>
          <a:prstGeom prst="ellipse">
            <a:avLst/>
          </a:prstGeom>
          <a:solidFill>
            <a:srgbClr val="1A1A2E"/>
          </a:solidFill>
          <a:ln w="12700">
            <a:solidFill>
              <a:srgbClr val="F66900"/>
            </a:solidFill>
          </a:ln>
        </p:spPr>
        <p:txBody>
          <a:bodyPr/>
          <a:lstStyle/>
          <a:p>
            <a:endParaRPr lang="en-US" sz="3200" dirty="0"/>
          </a:p>
        </p:txBody>
      </p:sp>
      <p:sp>
        <p:nvSpPr>
          <p:cNvPr id="141" name="DotTxt0"/>
          <p:cNvSpPr txBox="1">
            <a:spLocks noGrp="1"/>
          </p:cNvSpPr>
          <p:nvPr/>
        </p:nvSpPr>
        <p:spPr>
          <a:xfrm>
            <a:off x="6654800" y="2564410"/>
            <a:ext cx="304800" cy="304800"/>
          </a:xfrm>
          <a:prstGeom prst="rect">
            <a:avLst/>
          </a:prstGeom>
          <a:noFill/>
          <a:ln>
            <a:noFill/>
          </a:ln>
        </p:spPr>
        <p:txBody>
          <a:bodyPr wrap="square" lIns="57150" tIns="0" rIns="57150" bIns="0" anchor="ctr"/>
          <a:lstStyle/>
          <a:p>
            <a:pPr algn="ctr">
              <a:buNone/>
            </a:pPr>
            <a:r>
              <a:rPr lang="en-US" sz="1100" b="1" dirty="0">
                <a:solidFill>
                  <a:srgbClr val="FFFFFF"/>
                </a:solidFill>
              </a:rPr>
              <a:t>●</a:t>
            </a:r>
          </a:p>
        </p:txBody>
      </p:sp>
      <p:sp>
        <p:nvSpPr>
          <p:cNvPr id="142" name="StepTxt0"/>
          <p:cNvSpPr txBox="1">
            <a:spLocks noGrp="1"/>
          </p:cNvSpPr>
          <p:nvPr/>
        </p:nvSpPr>
        <p:spPr>
          <a:xfrm>
            <a:off x="7035800" y="2513610"/>
            <a:ext cx="4699000" cy="635000"/>
          </a:xfrm>
          <a:prstGeom prst="rect">
            <a:avLst/>
          </a:prstGeom>
          <a:noFill/>
          <a:ln>
            <a:noFill/>
          </a:ln>
        </p:spPr>
        <p:txBody>
          <a:bodyPr wrap="square" lIns="57150" tIns="0" rIns="57150" bIns="0" anchor="t"/>
          <a:lstStyle/>
          <a:p>
            <a:pPr algn="l">
              <a:buNone/>
            </a:pPr>
            <a:r>
              <a:rPr lang="en-US" sz="1600" b="1" dirty="0">
                <a:solidFill>
                  <a:srgbClr val="1A1A2E"/>
                </a:solidFill>
              </a:rPr>
              <a:t>Core</a:t>
            </a:r>
          </a:p>
          <a:p>
            <a:pPr algn="l">
              <a:buNone/>
            </a:pPr>
            <a:r>
              <a:rPr lang="en-US" sz="1200" dirty="0">
                <a:solidFill>
                  <a:srgbClr val="555555"/>
                </a:solidFill>
              </a:rPr>
              <a:t>Claude defines the minimal working product: core data models, basic logic, primary user action.</a:t>
            </a:r>
          </a:p>
        </p:txBody>
      </p:sp>
      <p:sp>
        <p:nvSpPr>
          <p:cNvPr id="143" name="Dot1"/>
          <p:cNvSpPr>
            <a:spLocks noGrp="1"/>
          </p:cNvSpPr>
          <p:nvPr/>
        </p:nvSpPr>
        <p:spPr>
          <a:xfrm>
            <a:off x="6654800" y="3351810"/>
            <a:ext cx="304800" cy="304800"/>
          </a:xfrm>
          <a:prstGeom prst="ellipse">
            <a:avLst/>
          </a:prstGeom>
          <a:solidFill>
            <a:srgbClr val="5A3A9E"/>
          </a:solidFill>
          <a:ln w="12700">
            <a:solidFill>
              <a:srgbClr val="7D54C7"/>
            </a:solidFill>
          </a:ln>
        </p:spPr>
        <p:txBody>
          <a:bodyPr/>
          <a:lstStyle/>
          <a:p>
            <a:endParaRPr lang="en-US" sz="3200" dirty="0"/>
          </a:p>
        </p:txBody>
      </p:sp>
      <p:sp>
        <p:nvSpPr>
          <p:cNvPr id="144" name="DotTxt1"/>
          <p:cNvSpPr txBox="1">
            <a:spLocks noGrp="1"/>
          </p:cNvSpPr>
          <p:nvPr/>
        </p:nvSpPr>
        <p:spPr>
          <a:xfrm>
            <a:off x="6654800" y="3351810"/>
            <a:ext cx="304800" cy="304800"/>
          </a:xfrm>
          <a:prstGeom prst="rect">
            <a:avLst/>
          </a:prstGeom>
          <a:noFill/>
          <a:ln>
            <a:noFill/>
          </a:ln>
        </p:spPr>
        <p:txBody>
          <a:bodyPr wrap="square" lIns="57150" tIns="0" rIns="57150" bIns="0" anchor="ctr"/>
          <a:lstStyle/>
          <a:p>
            <a:pPr algn="ctr">
              <a:buNone/>
            </a:pPr>
            <a:r>
              <a:rPr lang="en-US" sz="1100" b="1" dirty="0">
                <a:solidFill>
                  <a:srgbClr val="FFFFFF"/>
                </a:solidFill>
              </a:rPr>
              <a:t>1</a:t>
            </a:r>
          </a:p>
        </p:txBody>
      </p:sp>
      <p:sp>
        <p:nvSpPr>
          <p:cNvPr id="145" name="StepTxt1"/>
          <p:cNvSpPr txBox="1">
            <a:spLocks noGrp="1"/>
          </p:cNvSpPr>
          <p:nvPr/>
        </p:nvSpPr>
        <p:spPr>
          <a:xfrm>
            <a:off x="7035800" y="3301010"/>
            <a:ext cx="4699000" cy="635000"/>
          </a:xfrm>
          <a:prstGeom prst="rect">
            <a:avLst/>
          </a:prstGeom>
          <a:noFill/>
          <a:ln>
            <a:noFill/>
          </a:ln>
        </p:spPr>
        <p:txBody>
          <a:bodyPr wrap="square" lIns="57150" tIns="0" rIns="57150" bIns="0" anchor="t"/>
          <a:lstStyle/>
          <a:p>
            <a:pPr algn="l">
              <a:buNone/>
            </a:pPr>
            <a:r>
              <a:rPr lang="en-US" sz="1600" b="1" dirty="0">
                <a:solidFill>
                  <a:srgbClr val="5A3A9E"/>
                </a:solidFill>
              </a:rPr>
              <a:t>Feature(s)</a:t>
            </a:r>
          </a:p>
          <a:p>
            <a:r>
              <a:rPr lang="en-US" sz="1200" dirty="0">
                <a:solidFill>
                  <a:srgbClr val="555555"/>
                </a:solidFill>
              </a:rPr>
              <a:t>Make this your functional goals, what would you want for personal use? What would make this cool or stand out ?</a:t>
            </a:r>
          </a:p>
        </p:txBody>
      </p:sp>
      <p:sp>
        <p:nvSpPr>
          <p:cNvPr id="149" name="Dot3"/>
          <p:cNvSpPr>
            <a:spLocks noGrp="1"/>
          </p:cNvSpPr>
          <p:nvPr/>
        </p:nvSpPr>
        <p:spPr>
          <a:xfrm>
            <a:off x="6654800" y="4142843"/>
            <a:ext cx="304800" cy="304800"/>
          </a:xfrm>
          <a:prstGeom prst="ellipse">
            <a:avLst/>
          </a:prstGeom>
          <a:solidFill>
            <a:srgbClr val="B34D00"/>
          </a:solidFill>
          <a:ln w="12700">
            <a:solidFill>
              <a:srgbClr val="F66900"/>
            </a:solidFill>
          </a:ln>
        </p:spPr>
        <p:txBody>
          <a:bodyPr/>
          <a:lstStyle/>
          <a:p>
            <a:endParaRPr lang="en-US" sz="3200" dirty="0"/>
          </a:p>
        </p:txBody>
      </p:sp>
      <p:sp>
        <p:nvSpPr>
          <p:cNvPr id="150" name="DotTxt3"/>
          <p:cNvSpPr txBox="1">
            <a:spLocks noGrp="1"/>
          </p:cNvSpPr>
          <p:nvPr/>
        </p:nvSpPr>
        <p:spPr>
          <a:xfrm>
            <a:off x="6654800" y="4142843"/>
            <a:ext cx="304800" cy="304800"/>
          </a:xfrm>
          <a:prstGeom prst="rect">
            <a:avLst/>
          </a:prstGeom>
          <a:noFill/>
          <a:ln>
            <a:noFill/>
          </a:ln>
        </p:spPr>
        <p:txBody>
          <a:bodyPr wrap="square" lIns="57150" tIns="0" rIns="57150" bIns="0" anchor="ctr"/>
          <a:lstStyle/>
          <a:p>
            <a:pPr algn="ctr">
              <a:buNone/>
            </a:pPr>
            <a:r>
              <a:rPr lang="en-US" sz="1100" b="1" dirty="0">
                <a:solidFill>
                  <a:srgbClr val="FFFFFF"/>
                </a:solidFill>
              </a:rPr>
              <a:t>2</a:t>
            </a:r>
          </a:p>
        </p:txBody>
      </p:sp>
      <p:sp>
        <p:nvSpPr>
          <p:cNvPr id="151" name="StepTxt3"/>
          <p:cNvSpPr txBox="1">
            <a:spLocks noGrp="1"/>
          </p:cNvSpPr>
          <p:nvPr/>
        </p:nvSpPr>
        <p:spPr>
          <a:xfrm>
            <a:off x="7035800" y="4092043"/>
            <a:ext cx="4699000" cy="635000"/>
          </a:xfrm>
          <a:prstGeom prst="rect">
            <a:avLst/>
          </a:prstGeom>
          <a:noFill/>
          <a:ln>
            <a:noFill/>
          </a:ln>
        </p:spPr>
        <p:txBody>
          <a:bodyPr wrap="square" lIns="57150" tIns="0" rIns="57150" bIns="0" anchor="t"/>
          <a:lstStyle/>
          <a:p>
            <a:pPr algn="l">
              <a:buNone/>
            </a:pPr>
            <a:r>
              <a:rPr lang="en-US" sz="1600" b="1" dirty="0">
                <a:solidFill>
                  <a:srgbClr val="B34D00"/>
                </a:solidFill>
              </a:rPr>
              <a:t>Testing</a:t>
            </a:r>
          </a:p>
          <a:p>
            <a:pPr algn="l">
              <a:buNone/>
            </a:pPr>
            <a:r>
              <a:rPr lang="en-US" sz="1200" dirty="0">
                <a:solidFill>
                  <a:srgbClr val="555555"/>
                </a:solidFill>
              </a:rPr>
              <a:t>Claude builds test scripts that look for edge cases, test installations, and inspects code. </a:t>
            </a:r>
          </a:p>
        </p:txBody>
      </p:sp>
      <p:sp>
        <p:nvSpPr>
          <p:cNvPr id="152" name="Dot4"/>
          <p:cNvSpPr>
            <a:spLocks noGrp="1"/>
          </p:cNvSpPr>
          <p:nvPr/>
        </p:nvSpPr>
        <p:spPr>
          <a:xfrm>
            <a:off x="6654800" y="4930243"/>
            <a:ext cx="304800" cy="304800"/>
          </a:xfrm>
          <a:prstGeom prst="ellipse">
            <a:avLst/>
          </a:prstGeom>
          <a:solidFill>
            <a:srgbClr val="6A7A00"/>
          </a:solidFill>
          <a:ln w="12700">
            <a:solidFill>
              <a:srgbClr val="C4D500"/>
            </a:solidFill>
          </a:ln>
        </p:spPr>
        <p:txBody>
          <a:bodyPr/>
          <a:lstStyle/>
          <a:p>
            <a:endParaRPr lang="en-US" sz="3200" dirty="0"/>
          </a:p>
        </p:txBody>
      </p:sp>
      <p:sp>
        <p:nvSpPr>
          <p:cNvPr id="153" name="DotTxt4"/>
          <p:cNvSpPr txBox="1">
            <a:spLocks noGrp="1"/>
          </p:cNvSpPr>
          <p:nvPr/>
        </p:nvSpPr>
        <p:spPr>
          <a:xfrm>
            <a:off x="6654800" y="4930243"/>
            <a:ext cx="304800" cy="304800"/>
          </a:xfrm>
          <a:prstGeom prst="rect">
            <a:avLst/>
          </a:prstGeom>
          <a:noFill/>
          <a:ln>
            <a:noFill/>
          </a:ln>
        </p:spPr>
        <p:txBody>
          <a:bodyPr wrap="square" lIns="57150" tIns="0" rIns="57150" bIns="0" anchor="ctr"/>
          <a:lstStyle/>
          <a:p>
            <a:pPr algn="ctr">
              <a:buNone/>
            </a:pPr>
            <a:r>
              <a:rPr lang="en-US" sz="1100" b="1" dirty="0">
                <a:solidFill>
                  <a:srgbClr val="FFFFFF"/>
                </a:solidFill>
              </a:rPr>
              <a:t>4</a:t>
            </a:r>
          </a:p>
        </p:txBody>
      </p:sp>
      <p:sp>
        <p:nvSpPr>
          <p:cNvPr id="154" name="StepTxt4"/>
          <p:cNvSpPr txBox="1">
            <a:spLocks noGrp="1"/>
          </p:cNvSpPr>
          <p:nvPr/>
        </p:nvSpPr>
        <p:spPr>
          <a:xfrm>
            <a:off x="7035800" y="4879443"/>
            <a:ext cx="4699000" cy="635000"/>
          </a:xfrm>
          <a:prstGeom prst="rect">
            <a:avLst/>
          </a:prstGeom>
          <a:noFill/>
          <a:ln>
            <a:noFill/>
          </a:ln>
        </p:spPr>
        <p:txBody>
          <a:bodyPr wrap="square" lIns="57150" tIns="0" rIns="57150" bIns="0" anchor="t"/>
          <a:lstStyle/>
          <a:p>
            <a:pPr algn="l">
              <a:buNone/>
            </a:pPr>
            <a:r>
              <a:rPr lang="en-US" sz="1600" b="1" dirty="0">
                <a:solidFill>
                  <a:srgbClr val="6A7A00"/>
                </a:solidFill>
              </a:rPr>
              <a:t>Scale &amp; Polish</a:t>
            </a:r>
          </a:p>
          <a:p>
            <a:pPr algn="l">
              <a:buNone/>
            </a:pPr>
            <a:r>
              <a:rPr lang="en-US" sz="1200" dirty="0">
                <a:solidFill>
                  <a:srgbClr val="555555"/>
                </a:solidFill>
              </a:rPr>
              <a:t>Final agents handle perf tuning, error handling, logging, and deployment pipelines(GitHub).</a:t>
            </a:r>
          </a:p>
        </p:txBody>
      </p:sp>
      <p:sp>
        <p:nvSpPr>
          <p:cNvPr id="200" name="TagBar"/>
          <p:cNvSpPr>
            <a:spLocks noGrp="1"/>
          </p:cNvSpPr>
          <p:nvPr/>
        </p:nvSpPr>
        <p:spPr>
          <a:xfrm>
            <a:off x="279400" y="6324600"/>
            <a:ext cx="11633200" cy="381000"/>
          </a:xfrm>
          <a:prstGeom prst="roundRect">
            <a:avLst>
              <a:gd name="adj" fmla="val 10000"/>
            </a:avLst>
          </a:prstGeom>
          <a:solidFill>
            <a:srgbClr val="1A1A2E"/>
          </a:solidFill>
          <a:ln>
            <a:noFill/>
          </a:ln>
        </p:spPr>
        <p:txBody>
          <a:bodyPr/>
          <a:lstStyle/>
          <a:p>
            <a:endParaRPr lang="en-US" dirty="0"/>
          </a:p>
        </p:txBody>
      </p:sp>
      <p:sp>
        <p:nvSpPr>
          <p:cNvPr id="201" name="TagTxt"/>
          <p:cNvSpPr txBox="1">
            <a:spLocks noGrp="1"/>
          </p:cNvSpPr>
          <p:nvPr/>
        </p:nvSpPr>
        <p:spPr>
          <a:xfrm>
            <a:off x="279400" y="6324600"/>
            <a:ext cx="11633200" cy="381000"/>
          </a:xfrm>
          <a:prstGeom prst="rect">
            <a:avLst/>
          </a:prstGeom>
          <a:noFill/>
          <a:ln>
            <a:noFill/>
          </a:ln>
        </p:spPr>
        <p:txBody>
          <a:bodyPr wrap="square" lIns="57150" tIns="0" rIns="57150" bIns="0" anchor="ctr"/>
          <a:lstStyle/>
          <a:p>
            <a:pPr algn="ctr">
              <a:buNone/>
            </a:pPr>
            <a:r>
              <a:rPr lang="en-US" sz="1100" dirty="0">
                <a:solidFill>
                  <a:srgbClr val="AAAAAA"/>
                </a:solidFill>
              </a:rPr>
              <a:t>Each layer is independently planned, built, and tested by Claude agents — </a:t>
            </a:r>
            <a:r>
              <a:rPr lang="en-US" sz="1100" b="1" dirty="0">
                <a:solidFill>
                  <a:srgbClr val="C4D500"/>
                </a:solidFill>
              </a:rPr>
              <a:t>so the foundation is always solid.</a:t>
            </a:r>
          </a:p>
        </p:txBody>
      </p:sp>
      <p:sp>
        <p:nvSpPr>
          <p:cNvPr id="2" name="CoreTxt">
            <a:extLst>
              <a:ext uri="{FF2B5EF4-FFF2-40B4-BE49-F238E27FC236}">
                <a16:creationId xmlns:a16="http://schemas.microsoft.com/office/drawing/2014/main" id="{60D203E2-0B45-73BE-968F-F15E261582A7}"/>
              </a:ext>
            </a:extLst>
          </p:cNvPr>
          <p:cNvSpPr txBox="1">
            <a:spLocks noGrp="1"/>
          </p:cNvSpPr>
          <p:nvPr/>
        </p:nvSpPr>
        <p:spPr>
          <a:xfrm>
            <a:off x="3288862" y="2866826"/>
            <a:ext cx="965200" cy="660400"/>
          </a:xfrm>
          <a:prstGeom prst="rect">
            <a:avLst/>
          </a:prstGeom>
          <a:noFill/>
          <a:ln>
            <a:noFill/>
          </a:ln>
        </p:spPr>
        <p:txBody>
          <a:bodyPr wrap="square" lIns="57150" tIns="0" rIns="57150" bIns="0" anchor="ctr"/>
          <a:lstStyle/>
          <a:p>
            <a:pPr algn="ctr">
              <a:buNone/>
            </a:pPr>
            <a:r>
              <a:rPr lang="en-US" sz="1300" b="1" dirty="0"/>
              <a:t>Feature(s)</a:t>
            </a:r>
          </a:p>
        </p:txBody>
      </p:sp>
      <p:sp>
        <p:nvSpPr>
          <p:cNvPr id="3" name="CoreTxt">
            <a:extLst>
              <a:ext uri="{FF2B5EF4-FFF2-40B4-BE49-F238E27FC236}">
                <a16:creationId xmlns:a16="http://schemas.microsoft.com/office/drawing/2014/main" id="{5CFA1439-582F-DD23-4AD0-1D4E745BC0A4}"/>
              </a:ext>
            </a:extLst>
          </p:cNvPr>
          <p:cNvSpPr txBox="1">
            <a:spLocks noGrp="1"/>
          </p:cNvSpPr>
          <p:nvPr/>
        </p:nvSpPr>
        <p:spPr>
          <a:xfrm>
            <a:off x="3263900" y="1531716"/>
            <a:ext cx="965200" cy="660400"/>
          </a:xfrm>
          <a:prstGeom prst="rect">
            <a:avLst/>
          </a:prstGeom>
          <a:noFill/>
          <a:ln>
            <a:noFill/>
          </a:ln>
        </p:spPr>
        <p:txBody>
          <a:bodyPr wrap="square" lIns="57150" tIns="0" rIns="57150" bIns="0" anchor="ctr"/>
          <a:lstStyle/>
          <a:p>
            <a:pPr algn="ctr">
              <a:buNone/>
            </a:pPr>
            <a:r>
              <a:rPr lang="en-US" sz="1300" b="1" dirty="0"/>
              <a:t>Scale and Deploy</a:t>
            </a:r>
          </a:p>
        </p:txBody>
      </p:sp>
      <p:sp>
        <p:nvSpPr>
          <p:cNvPr id="5" name="CoreTxt">
            <a:extLst>
              <a:ext uri="{FF2B5EF4-FFF2-40B4-BE49-F238E27FC236}">
                <a16:creationId xmlns:a16="http://schemas.microsoft.com/office/drawing/2014/main" id="{F23E88D1-AE1B-0718-7D1E-C3E9B6DCFBB4}"/>
              </a:ext>
            </a:extLst>
          </p:cNvPr>
          <p:cNvSpPr txBox="1">
            <a:spLocks noGrp="1"/>
          </p:cNvSpPr>
          <p:nvPr/>
        </p:nvSpPr>
        <p:spPr>
          <a:xfrm>
            <a:off x="3263900" y="2118138"/>
            <a:ext cx="965200" cy="660400"/>
          </a:xfrm>
          <a:prstGeom prst="rect">
            <a:avLst/>
          </a:prstGeom>
          <a:noFill/>
          <a:ln>
            <a:noFill/>
          </a:ln>
        </p:spPr>
        <p:txBody>
          <a:bodyPr wrap="square" lIns="57150" tIns="0" rIns="57150" bIns="0" anchor="ctr"/>
          <a:lstStyle/>
          <a:p>
            <a:pPr algn="ctr">
              <a:buNone/>
            </a:pPr>
            <a:r>
              <a:rPr lang="en-US" sz="1300" b="1" dirty="0"/>
              <a:t>Testing</a:t>
            </a:r>
          </a:p>
        </p:txBody>
      </p:sp>
    </p:spTree>
    <p:extLst>
      <p:ext uri="{BB962C8B-B14F-4D97-AF65-F5344CB8AC3E}">
        <p14:creationId xmlns:p14="http://schemas.microsoft.com/office/powerpoint/2010/main" val="1368920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CC6A75-E47C-4925-CD8B-69C1154FAEA6}"/>
              </a:ext>
            </a:extLst>
          </p:cNvPr>
          <p:cNvSpPr>
            <a:spLocks noGrp="1"/>
          </p:cNvSpPr>
          <p:nvPr>
            <p:ph type="body" sz="quarter" idx="15"/>
          </p:nvPr>
        </p:nvSpPr>
        <p:spPr>
          <a:xfrm>
            <a:off x="272085" y="1744225"/>
            <a:ext cx="11589952" cy="4782699"/>
          </a:xfrm>
        </p:spPr>
        <p:txBody>
          <a:bodyPr/>
          <a:lstStyle/>
          <a:p>
            <a:r>
              <a:rPr lang="en-US" dirty="0"/>
              <a:t>Add on to a functional web application for work.</a:t>
            </a:r>
          </a:p>
          <a:p>
            <a:r>
              <a:rPr lang="en-US" dirty="0"/>
              <a:t>Prompt 3:</a:t>
            </a:r>
          </a:p>
          <a:p>
            <a:pPr lvl="1"/>
            <a:r>
              <a:rPr lang="en-US" sz="2000" dirty="0"/>
              <a:t>Look at where we left off with this project, I want to plan to add a feature. When a student flags a class as complete, we should ask that students provide their grade in the course as a standard letter grade with this and with the number of credits from the course plan document we need to, first update a “GPA” tracker bar at the bottom of the screen and second calculate the letter grade that the student received. Second before marking this class as complete check to see if the student met the minimum grade requirement in their plan. Make sure to consider an edge case where this isn’t listed and defaults to a D or greater. I’d like the grade entry window to be a model popup that uses the same style set as the application. Grade policy can be found here </a:t>
            </a:r>
            <a:r>
              <a:rPr lang="en-US" sz="2000" dirty="0">
                <a:hlinkClick r:id="rId2"/>
              </a:rPr>
              <a:t>https://www.rit.edu/policies/d050</a:t>
            </a:r>
            <a:r>
              <a:rPr lang="en-US" sz="2000" dirty="0"/>
              <a:t> . Once we’ve updated our plan document let’s execute an elite coding agent and a UI/UX agent as needed to build the feature. “   </a:t>
            </a:r>
          </a:p>
          <a:p>
            <a:pPr lvl="1"/>
            <a:r>
              <a:rPr lang="en-US" sz="2000" dirty="0"/>
              <a:t>/btw I’ve added a sample plan </a:t>
            </a:r>
            <a:r>
              <a:rPr lang="en-US" sz="2000" dirty="0" err="1"/>
              <a:t>MECA_TEST_PLAN.csv</a:t>
            </a:r>
            <a:r>
              <a:rPr lang="en-US" sz="2000" dirty="0"/>
              <a:t> in the doc’s folder so that you can do some basic testing. </a:t>
            </a:r>
          </a:p>
        </p:txBody>
      </p:sp>
      <p:sp>
        <p:nvSpPr>
          <p:cNvPr id="4" name="Title 3">
            <a:extLst>
              <a:ext uri="{FF2B5EF4-FFF2-40B4-BE49-F238E27FC236}">
                <a16:creationId xmlns:a16="http://schemas.microsoft.com/office/drawing/2014/main" id="{E0E4B48F-93A5-B0D3-B5D3-10BC52B27308}"/>
              </a:ext>
            </a:extLst>
          </p:cNvPr>
          <p:cNvSpPr>
            <a:spLocks noGrp="1"/>
          </p:cNvSpPr>
          <p:nvPr>
            <p:ph type="title"/>
          </p:nvPr>
        </p:nvSpPr>
        <p:spPr/>
        <p:txBody>
          <a:bodyPr/>
          <a:lstStyle/>
          <a:p>
            <a:r>
              <a:rPr lang="en-US" dirty="0"/>
              <a:t>Project 3 </a:t>
            </a:r>
          </a:p>
        </p:txBody>
      </p:sp>
    </p:spTree>
    <p:extLst>
      <p:ext uri="{BB962C8B-B14F-4D97-AF65-F5344CB8AC3E}">
        <p14:creationId xmlns:p14="http://schemas.microsoft.com/office/powerpoint/2010/main" val="91804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1B5289-0C68-D8CA-8C3C-1013B8B6737C}"/>
              </a:ext>
            </a:extLst>
          </p:cNvPr>
          <p:cNvSpPr>
            <a:spLocks noGrp="1"/>
          </p:cNvSpPr>
          <p:nvPr>
            <p:ph type="body" sz="quarter" idx="15"/>
          </p:nvPr>
        </p:nvSpPr>
        <p:spPr/>
        <p:txBody>
          <a:bodyPr/>
          <a:lstStyle/>
          <a:p>
            <a:r>
              <a:rPr lang="en-US" dirty="0"/>
              <a:t>What are some use cases that you might have for Claude? </a:t>
            </a:r>
          </a:p>
          <a:p>
            <a:endParaRPr lang="en-US" dirty="0"/>
          </a:p>
          <a:p>
            <a:r>
              <a:rPr lang="en-US" dirty="0"/>
              <a:t>What questions do you have about workflows or Claude Code in general? </a:t>
            </a:r>
          </a:p>
          <a:p>
            <a:endParaRPr lang="en-US" dirty="0"/>
          </a:p>
          <a:p>
            <a:r>
              <a:rPr lang="en-US" dirty="0"/>
              <a:t>Would you like a second session on this or other AI topics? </a:t>
            </a:r>
          </a:p>
        </p:txBody>
      </p:sp>
      <p:sp>
        <p:nvSpPr>
          <p:cNvPr id="4" name="Title 3">
            <a:extLst>
              <a:ext uri="{FF2B5EF4-FFF2-40B4-BE49-F238E27FC236}">
                <a16:creationId xmlns:a16="http://schemas.microsoft.com/office/drawing/2014/main" id="{3276903F-45DF-5C69-535B-8E8345BBA1EE}"/>
              </a:ext>
            </a:extLst>
          </p:cNvPr>
          <p:cNvSpPr>
            <a:spLocks noGrp="1"/>
          </p:cNvSpPr>
          <p:nvPr>
            <p:ph type="title"/>
          </p:nvPr>
        </p:nvSpPr>
        <p:spPr/>
        <p:txBody>
          <a:bodyPr/>
          <a:lstStyle/>
          <a:p>
            <a:r>
              <a:rPr lang="en-US" dirty="0"/>
              <a:t>Use Cases</a:t>
            </a:r>
          </a:p>
        </p:txBody>
      </p:sp>
    </p:spTree>
    <p:extLst>
      <p:ext uri="{BB962C8B-B14F-4D97-AF65-F5344CB8AC3E}">
        <p14:creationId xmlns:p14="http://schemas.microsoft.com/office/powerpoint/2010/main" val="2175253801"/>
      </p:ext>
    </p:extLst>
  </p:cSld>
  <p:clrMapOvr>
    <a:masterClrMapping/>
  </p:clrMapOvr>
</p:sld>
</file>

<file path=ppt/theme/theme1.xml><?xml version="1.0" encoding="utf-8"?>
<a:theme xmlns:a="http://schemas.openxmlformats.org/drawingml/2006/main" name="RIT">
  <a:themeElements>
    <a:clrScheme name="RIT">
      <a:dk1>
        <a:srgbClr val="000000"/>
      </a:dk1>
      <a:lt1>
        <a:srgbClr val="FFFFFF"/>
      </a:lt1>
      <a:dk2>
        <a:srgbClr val="6F706F"/>
      </a:dk2>
      <a:lt2>
        <a:srgbClr val="E7E6E6"/>
      </a:lt2>
      <a:accent1>
        <a:srgbClr val="F66900"/>
      </a:accent1>
      <a:accent2>
        <a:srgbClr val="F6BD00"/>
      </a:accent2>
      <a:accent3>
        <a:srgbClr val="C4D500"/>
      </a:accent3>
      <a:accent4>
        <a:srgbClr val="009CBD"/>
      </a:accent4>
      <a:accent5>
        <a:srgbClr val="7D54C7"/>
      </a:accent5>
      <a:accent6>
        <a:srgbClr val="70AD47"/>
      </a:accent6>
      <a:hlink>
        <a:srgbClr val="D64900"/>
      </a:hlink>
      <a:folHlink>
        <a:srgbClr val="7174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a_2025" id="{A339958F-28ED-3B49-8039-8411F0A0A8DA}" vid="{975735F7-6EF0-2344-BD77-1FE4BB4B1E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DC8BEF3-F166-1D49-80ED-BD883B101DB8}">
  <we:reference id="WA200010001" version="1.0.0.1" store="Omex" storeType="OMEX"/>
  <we:alternateReferences>
    <we:reference id="WA200010001" version="1.0.0.1" store="WA200010001" storeType="OMEX"/>
  </we:alternateReferences>
  <we:properties>
    <we:property name="claude.fileId" value="&quot;cbb73d96-e2a5-4435-9913-e2868dcd7f65&quot;"/>
  </we:properties>
  <we:bindings/>
  <we:snapshot xmlns:r="http://schemas.openxmlformats.org/officeDocument/2006/relationships"/>
</we:webextension>
</file>

<file path=docMetadata/LabelInfo.xml><?xml version="1.0" encoding="utf-8"?>
<clbl:labelList xmlns:clbl="http://schemas.microsoft.com/office/2020/mipLabelMetadata">
  <clbl:label id="{f9dd8f4f-3b8b-4768-aba7-bbd379e0736b}" enabled="0" method="" siteId="{f9dd8f4f-3b8b-4768-aba7-bbd379e0736b}" removed="1"/>
</clbl:labelList>
</file>

<file path=docProps/app.xml><?xml version="1.0" encoding="utf-8"?>
<Properties xmlns="http://schemas.openxmlformats.org/officeDocument/2006/extended-properties" xmlns:vt="http://schemas.openxmlformats.org/officeDocument/2006/docPropsVTypes">
  <Template>RIT</Template>
  <TotalTime>1292</TotalTime>
  <Words>1225</Words>
  <Application>Microsoft Macintosh PowerPoint</Application>
  <PresentationFormat>Widescreen</PresentationFormat>
  <Paragraphs>155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MS Gothic</vt:lpstr>
      <vt:lpstr>Arial</vt:lpstr>
      <vt:lpstr>Calibri</vt:lpstr>
      <vt:lpstr>Georgia</vt:lpstr>
      <vt:lpstr>System Font Regular</vt:lpstr>
      <vt:lpstr>Wingdings</vt:lpstr>
      <vt:lpstr>RIT</vt:lpstr>
      <vt:lpstr> Claude Code </vt:lpstr>
      <vt:lpstr>Welcome</vt:lpstr>
      <vt:lpstr>Claude Code and You</vt:lpstr>
      <vt:lpstr>Disclaimers *** </vt:lpstr>
      <vt:lpstr>Flavors of Claude</vt:lpstr>
      <vt:lpstr>Homework (yes this is a thing)</vt:lpstr>
      <vt:lpstr>What is Claude Code</vt:lpstr>
      <vt:lpstr>General LLM vs. Specialized LLM</vt:lpstr>
      <vt:lpstr>Our First Project</vt:lpstr>
      <vt:lpstr>How Claude Code Understands Context</vt:lpstr>
      <vt:lpstr>Project 2 </vt:lpstr>
      <vt:lpstr>Claude Code: Agentic Workflow</vt:lpstr>
      <vt:lpstr>Building with Claude: Layer by Layer</vt:lpstr>
      <vt:lpstr>Project 3 </vt:lpstr>
      <vt:lpstr>Use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Caldwell</dc:creator>
  <cp:lastModifiedBy>Michael Caldwell</cp:lastModifiedBy>
  <cp:revision>1</cp:revision>
  <cp:lastPrinted>2018-04-25T02:50:23Z</cp:lastPrinted>
  <dcterms:created xsi:type="dcterms:W3CDTF">2026-04-29T19:58:13Z</dcterms:created>
  <dcterms:modified xsi:type="dcterms:W3CDTF">2026-04-30T17:30:49Z</dcterms:modified>
</cp:coreProperties>
</file>